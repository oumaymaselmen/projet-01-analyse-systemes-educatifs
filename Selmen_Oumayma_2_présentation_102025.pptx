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59" r:id="rId5"/>
    <p:sldId id="262" r:id="rId6"/>
    <p:sldId id="263" r:id="rId7"/>
    <p:sldId id="264" r:id="rId8"/>
    <p:sldId id="265" r:id="rId9"/>
    <p:sldId id="261" r:id="rId10"/>
    <p:sldId id="268" r:id="rId11"/>
    <p:sldId id="269" r:id="rId12"/>
    <p:sldId id="272" r:id="rId13"/>
    <p:sldId id="271" r:id="rId14"/>
    <p:sldId id="270" r:id="rId15"/>
    <p:sldId id="258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6FB78-ADAD-41C4-BF7F-8B6E5671D5C3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0755D-557A-4C3D-9872-A57E5F5DB2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08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0755D-557A-4C3D-9872-A57E5F5DB21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19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0755D-557A-4C3D-9872-A57E5F5DB21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89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EE60C-BF6E-BA85-CDE6-DDA2A77E6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D8D873-FBC2-B006-DDFA-7EEEC4C98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A3A151-F5B3-9949-D49A-EB78C7BA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1C4B-9257-413F-9679-5B7931C33429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3AFED7-F4BF-4DAC-686C-A6EDF780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CDF7B1-DCF3-239C-ECB0-45B2A48A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22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BE54B-6E26-2386-DF7A-163500C9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DA24E-ACE2-B02D-BDE4-7D8E27C1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8A21B0-09A0-619D-C576-2F2DF3CC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C90-7104-492A-8B51-86F350C2D490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1610B7-FFFD-39EA-6947-37E5248F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F85D0A-4082-77B2-C2B9-482A3446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264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BC1D7-35D3-D983-F426-89EF8B6C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DFD479-5A5D-AE2E-A8D6-89AF0C750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8723BD-9A5F-31EF-5054-0401837C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BE3-C4A3-4075-8D23-1413AFB47452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6C1721-10D8-E5B6-30ED-3E08C13E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EEC04F-DEB2-6CAC-808D-5A7C6417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61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7E90A1-B0C3-F9D0-6904-C33BDF08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C4BB23-948D-F5C1-7404-E4139BE58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860170-FCBF-7BEE-1DBF-E47EB3CF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82FD45-A1F9-E995-39C1-CE1FC378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32AF-BB94-4D4F-8402-5E74418F4707}" type="datetime1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6ACC11-7132-46F9-B27A-B1D11CD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F44E56-2F47-ABD9-1149-DD4DB163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31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3E4C0-A260-A66F-F318-16175F60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5DC49C-D367-F2CA-4740-8D2B79811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EB75FE-B82B-3774-36E6-B8A9D3D63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834987-29B1-CC1D-B53B-25BED356D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D955DD-1FBD-BF63-11EB-572D74AB2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F14E9E-6065-80EC-281B-6979D37A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AACA-68B7-403D-9B0D-C69C719179B6}" type="datetime1">
              <a:rPr lang="fr-FR" smtClean="0"/>
              <a:t>13/11/2025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F1818B-5D3C-08A7-0145-16FBE57A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805F8B-F0BC-866F-0F9C-8B29D75E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84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D0C91-ADF2-8B92-1FB9-20EF8AA5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B68CBE-FC2D-2954-F8AD-138CD9C3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61825-24DD-40D8-A56D-FD44133DE1E4}" type="datetime1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10D9FD-DC27-9891-F3CD-CB8A24BD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F1F62D-2D94-6EC2-756A-41697296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43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A16F5B-4726-A595-B72C-246E61B3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2A61-4CDB-4748-9340-2393E93D244C}" type="datetime1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A4C494-41C7-BC3C-FDBA-40B781B1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E3ABD0-47AE-517A-BA78-259320A8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82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4FB56-42EF-D748-6F9F-30738E24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ADCB84-9DA8-970F-81E7-D2F5515E5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7FA25F-DE2D-4A3A-777A-BEDC6A0CD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48ED4F-2052-280C-D02E-FFB10547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96F0-A35E-48BD-ACC9-7657CDEFAC93}" type="datetime1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A1F045-C87C-D027-AE7E-6DEEC95A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1ADBE5-0BA4-A907-9B52-352ACB2C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97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265D5-0ABA-7DFD-840C-18D0FC3B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12D41C-127B-59C9-89AE-DC2E6ACE9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F24515-E4B2-E9EE-AE71-756CC5C6E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E7CDF6-D3CA-617B-7E03-E3EC7D40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444-5598-44ED-AB6B-FE817B766EC1}" type="datetime1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A3F3A4-5745-B27A-2E5F-E6CA7E6D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CED64E-7C05-526D-4702-1A30A64D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535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74589C-57B8-F8D9-27CE-DA6C4930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3734E9-EDC4-90F4-D67A-9E82E9D41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96EC87-09DD-B229-6460-D7B4DCF1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8BDB-EAE3-4490-89CD-B9EC5E3490DE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4F186A-745C-49BA-3ACF-885E3578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1406EC-0566-1099-5093-AC47A5E0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6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75EDB7-F4F7-9460-0240-C575362F5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BCF1F5-FAC3-4C7B-72DF-A6983554D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CC9284-99F8-5635-1DD6-0CD9BC56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10F14-5E93-44D1-B438-230C8EB73816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40EF21-6A9F-E20D-BBCC-ADFDD7B4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DA4AF5-03B4-8BE8-58F8-EFAB3B86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87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E7B3BBC-B370-A203-2ED7-61265998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A93C56-914F-FC0B-5BF9-563B7419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1B9AD-AF8F-2D73-57FA-3D18C660C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80A25-487B-447F-85FF-4D599E49B492}" type="datetime1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04F3F1-5408-7F67-E986-7AE7533D3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FA5DBF-EB08-66A8-0D6C-B1734E5C7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946B-6C31-4F70-A59F-D81A167EDC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2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C611BD2-7C2A-4F4A-ABDD-9C6381786ED5}"/>
              </a:ext>
            </a:extLst>
          </p:cNvPr>
          <p:cNvSpPr txBox="1"/>
          <p:nvPr/>
        </p:nvSpPr>
        <p:spPr>
          <a:xfrm>
            <a:off x="1445342" y="1065353"/>
            <a:ext cx="930131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0"/>
              </a:spcBef>
              <a:buNone/>
            </a:pPr>
            <a:r>
              <a:rPr lang="fr-FR" sz="6000" dirty="0">
                <a:solidFill>
                  <a:schemeClr val="bg1"/>
                </a:solidFill>
                <a:latin typeface="Segoe UI" panose="020B0502040204020203" pitchFamily="34" charset="0"/>
              </a:rPr>
              <a:t>Analyse des données de systèmes éducatifs</a:t>
            </a:r>
            <a:br>
              <a:rPr lang="fr-FR" dirty="0">
                <a:solidFill>
                  <a:schemeClr val="bg1"/>
                </a:solidFill>
              </a:rPr>
            </a:b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D9A61E-8E52-696B-7CBC-2AC5B3AE0DBC}"/>
              </a:ext>
            </a:extLst>
          </p:cNvPr>
          <p:cNvSpPr txBox="1"/>
          <p:nvPr/>
        </p:nvSpPr>
        <p:spPr>
          <a:xfrm>
            <a:off x="3048000" y="342900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buNone/>
            </a:pPr>
            <a: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Étude de Faisabilité pour l'Expansion</a:t>
            </a:r>
            <a:b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</a:br>
            <a: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Internationale d'</a:t>
            </a:r>
            <a:r>
              <a:rPr lang="fr-FR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Academy</a:t>
            </a:r>
            <a:endParaRPr lang="fr-FR" sz="24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D1F678-1D70-83C3-4B49-B20C9DCE7648}"/>
              </a:ext>
            </a:extLst>
          </p:cNvPr>
          <p:cNvSpPr txBox="1"/>
          <p:nvPr/>
        </p:nvSpPr>
        <p:spPr>
          <a:xfrm>
            <a:off x="3048000" y="454670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buNone/>
            </a:pPr>
            <a: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Data </a:t>
            </a:r>
            <a:r>
              <a:rPr lang="fr-FR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Engineer</a:t>
            </a:r>
            <a: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:</a:t>
            </a:r>
            <a:b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</a:br>
            <a:r>
              <a:rPr lang="fr-F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Oumayma Selmen</a:t>
            </a:r>
          </a:p>
        </p:txBody>
      </p:sp>
    </p:spTree>
    <p:extLst>
      <p:ext uri="{BB962C8B-B14F-4D97-AF65-F5344CB8AC3E}">
        <p14:creationId xmlns:p14="http://schemas.microsoft.com/office/powerpoint/2010/main" val="84852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13609-9615-9FA6-59D4-27F36415D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477D4BB-52A7-7197-D3AE-3B68E5226C53}"/>
              </a:ext>
            </a:extLst>
          </p:cNvPr>
          <p:cNvSpPr txBox="1"/>
          <p:nvPr/>
        </p:nvSpPr>
        <p:spPr>
          <a:xfrm>
            <a:off x="0" y="2619804"/>
            <a:ext cx="4307840" cy="161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1125"/>
              </a:spcAft>
              <a:buFont typeface="+mj-lt"/>
              <a:buAutoNum type="arabicPeriod"/>
            </a:pPr>
            <a:br>
              <a:rPr lang="fr-FR" b="1" i="0" dirty="0">
                <a:solidFill>
                  <a:srgbClr val="2D3748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i="0" dirty="0">
                <a:solidFill>
                  <a:srgbClr val="2D3748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1. RECOMMANDATION CLÉ</a:t>
            </a: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Cible N°1 :</a:t>
            </a:r>
            <a:r>
              <a:rPr lang="fr-FR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Allemagne 🇩🇪 (Score 4/6)</a:t>
            </a:r>
            <a:endParaRPr lang="fr-FR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Cible N°2 : </a:t>
            </a:r>
            <a:r>
              <a:rPr lang="fr-FR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Tanzanie 🇹🇿 (Score 3/6)</a:t>
            </a:r>
            <a:endParaRPr lang="fr-FR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Cible N°3 :</a:t>
            </a:r>
            <a:r>
              <a:rPr lang="fr-FR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Autriche 🇦🇹 (Score 2/6)</a:t>
            </a:r>
            <a:endParaRPr lang="fr-FR" b="0" i="0" dirty="0"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B367D1-DDC2-1FFE-8EA1-109394EB0861}"/>
              </a:ext>
            </a:extLst>
          </p:cNvPr>
          <p:cNvSpPr txBox="1"/>
          <p:nvPr/>
        </p:nvSpPr>
        <p:spPr>
          <a:xfrm>
            <a:off x="7980190" y="2876748"/>
            <a:ext cx="3840480" cy="161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  <a:buNone/>
            </a:pPr>
            <a:r>
              <a:rPr lang="fr-FR" b="1" i="0" dirty="0">
                <a:solidFill>
                  <a:srgbClr val="2D3748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2. FACTEURS DÉTERMINANTS</a:t>
            </a:r>
          </a:p>
          <a:p>
            <a:pPr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classement est basé sur la </a:t>
            </a:r>
            <a:r>
              <a:rPr lang="fr-FR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fréquence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 présence dans le Top 5 de 6 indicateurs structurels non-corrélé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2F86642-84B5-52F1-7844-2284AD457346}"/>
              </a:ext>
            </a:extLst>
          </p:cNvPr>
          <p:cNvSpPr txBox="1"/>
          <p:nvPr/>
        </p:nvSpPr>
        <p:spPr>
          <a:xfrm>
            <a:off x="4338322" y="3905856"/>
            <a:ext cx="3474720" cy="217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fr-FR" b="1" i="0" dirty="0">
                <a:solidFill>
                  <a:srgbClr val="2D3748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3. PROCHAINE ÉTAPE IMMÉDIATE</a:t>
            </a:r>
          </a:p>
          <a:p>
            <a:pPr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Valider la</a:t>
            </a:r>
            <a:r>
              <a:rPr lang="fr-FR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faisabilité économique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par l'intégration de données financières (PIB/</a:t>
            </a:r>
            <a:r>
              <a:rPr lang="fr-FR" sz="1600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habitant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avant de lancer un Proof of Concept.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3801B0-547B-EC08-D8E0-CB18620EA9E0}"/>
              </a:ext>
            </a:extLst>
          </p:cNvPr>
          <p:cNvSpPr txBox="1"/>
          <p:nvPr/>
        </p:nvSpPr>
        <p:spPr>
          <a:xfrm>
            <a:off x="333528" y="59120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Synthèse Exécutive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C9DFB9F-2B1A-340E-51DC-4325A9BC391F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00" name="Picture 4" descr="Considérable : résultats (103 mille) d'images libres de droits, de photos  de stock et d'illustrations | Shutterstock">
            <a:extLst>
              <a:ext uri="{FF2B5EF4-FFF2-40B4-BE49-F238E27FC236}">
                <a16:creationId xmlns:a16="http://schemas.microsoft.com/office/drawing/2014/main" id="{C1D3D620-1E95-6DFD-476F-3D824D9EF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7"/>
          <a:stretch>
            <a:fillRect/>
          </a:stretch>
        </p:blipFill>
        <p:spPr bwMode="auto">
          <a:xfrm>
            <a:off x="1295636" y="1602287"/>
            <a:ext cx="1716568" cy="130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usiness failures | Bhavin Gandhi's Blog">
            <a:extLst>
              <a:ext uri="{FF2B5EF4-FFF2-40B4-BE49-F238E27FC236}">
                <a16:creationId xmlns:a16="http://schemas.microsoft.com/office/drawing/2014/main" id="{7663A0CF-C4CB-77B5-3F1E-91257EBE9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874" y="1427907"/>
            <a:ext cx="2058475" cy="147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hallenge Generic Flat icon | Freepik">
            <a:extLst>
              <a:ext uri="{FF2B5EF4-FFF2-40B4-BE49-F238E27FC236}">
                <a16:creationId xmlns:a16="http://schemas.microsoft.com/office/drawing/2014/main" id="{C19EC83E-BE46-3F06-2EE2-08423053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206" y="2738275"/>
            <a:ext cx="1167581" cy="1167581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  <a:outerShdw blurRad="50800" dir="4800000" algn="ctr" rotWithShape="0">
              <a:srgbClr val="000000">
                <a:alpha val="0"/>
              </a:srgbClr>
            </a:outerShdw>
            <a:reflection stA="5000" endPos="65000" dist="508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FBDFAB-2413-E450-6C63-0255066D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8613" y="6356350"/>
            <a:ext cx="4114800" cy="365125"/>
          </a:xfrm>
        </p:spPr>
        <p:txBody>
          <a:bodyPr/>
          <a:lstStyle/>
          <a:p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Analyse des données de systèmes éducatifs</a:t>
            </a:r>
            <a:endParaRPr lang="fr-F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AC3E6A9-9D7C-AA10-7F6C-CAB8C546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21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96AF6-8026-9250-DD5A-1990F007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0C815D3-CD60-6566-F619-067266A59FBC}"/>
              </a:ext>
            </a:extLst>
          </p:cNvPr>
          <p:cNvSpPr txBox="1"/>
          <p:nvPr/>
        </p:nvSpPr>
        <p:spPr>
          <a:xfrm>
            <a:off x="3721101" y="479493"/>
            <a:ext cx="76326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75"/>
              </a:spcAft>
            </a:pPr>
            <a:r>
              <a:rPr lang="en-US" sz="4400" b="1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2. </a:t>
            </a:r>
            <a:r>
              <a:rPr lang="en-US" sz="4400" b="1" i="0" kern="1200" dirty="0" err="1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Problématique</a:t>
            </a:r>
            <a:r>
              <a:rPr lang="en-US" sz="4400" b="1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 &amp; </a:t>
            </a:r>
            <a:r>
              <a:rPr lang="en-US" sz="4400" b="1" i="0" kern="1200" dirty="0" err="1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Périmètre</a:t>
            </a:r>
            <a:endParaRPr lang="en-US" sz="4400" b="1" i="0" kern="1200" dirty="0"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6B6467-6EB9-8D16-8C3E-487FDF7689C7}"/>
              </a:ext>
            </a:extLst>
          </p:cNvPr>
          <p:cNvSpPr txBox="1"/>
          <p:nvPr/>
        </p:nvSpPr>
        <p:spPr>
          <a:xfrm>
            <a:off x="4127501" y="1984443"/>
            <a:ext cx="8064499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en-US" sz="2000" b="1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Défi</a:t>
            </a:r>
            <a:r>
              <a:rPr lang="en-US" sz="20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Transformer le Volume </a:t>
            </a:r>
            <a:r>
              <a:rPr lang="en-US" sz="2000" b="1" i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0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Valeur</a:t>
            </a:r>
          </a:p>
          <a:p>
            <a:pPr>
              <a:lnSpc>
                <a:spcPct val="90000"/>
              </a:lnSpc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Academy doit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s'étendre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Le jeu de données UNESCO "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EdStats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est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notre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base,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il est trop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vaste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(1681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indicateurs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filtrés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90000"/>
              </a:lnSpc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Objectif </a:t>
            </a:r>
            <a:r>
              <a:rPr lang="en-US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Réduire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200 pays à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courte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justifiable.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b="1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Enjeu</a:t>
            </a:r>
            <a:r>
              <a:rPr lang="en-US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S'assurer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 "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potentiel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client" est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mesuré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 des données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fiables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Notre mission :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Fournir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cibles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claires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validées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 les données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structurelles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2" descr="C'est quoi une problématique ? - Le CDI du Lycée Notre Dame de Recouvrance">
            <a:extLst>
              <a:ext uri="{FF2B5EF4-FFF2-40B4-BE49-F238E27FC236}">
                <a16:creationId xmlns:a16="http://schemas.microsoft.com/office/drawing/2014/main" id="{E77D405B-F72A-870A-F20B-15E33BE94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655" y="1142274"/>
            <a:ext cx="2824192" cy="41925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lèche : bas 6">
            <a:extLst>
              <a:ext uri="{FF2B5EF4-FFF2-40B4-BE49-F238E27FC236}">
                <a16:creationId xmlns:a16="http://schemas.microsoft.com/office/drawing/2014/main" id="{46BFFAB8-3EFE-4F1F-B02E-5D2FABC51896}"/>
              </a:ext>
            </a:extLst>
          </p:cNvPr>
          <p:cNvSpPr/>
          <p:nvPr/>
        </p:nvSpPr>
        <p:spPr>
          <a:xfrm rot="16200000">
            <a:off x="3841940" y="4774119"/>
            <a:ext cx="164722" cy="40640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D5B450-8EFA-F022-803C-4F9148CF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7271" y="6378575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88D61E-962F-7980-A6F4-E1605125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68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930B-FB2B-0600-49EF-BE5D7770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A5691DC-BB34-6BE1-CA51-8E4A04A40F66}"/>
              </a:ext>
            </a:extLst>
          </p:cNvPr>
          <p:cNvSpPr txBox="1"/>
          <p:nvPr/>
        </p:nvSpPr>
        <p:spPr>
          <a:xfrm>
            <a:off x="558800" y="490036"/>
            <a:ext cx="747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Contexte Initial : Dimensions du Data Set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A6000C-DA45-259C-0819-F66F5B65C0A3}"/>
              </a:ext>
            </a:extLst>
          </p:cNvPr>
          <p:cNvSpPr/>
          <p:nvPr/>
        </p:nvSpPr>
        <p:spPr>
          <a:xfrm>
            <a:off x="558800" y="2336800"/>
            <a:ext cx="3251200" cy="218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1 681</a:t>
            </a:r>
          </a:p>
          <a:p>
            <a:pPr algn="ctr"/>
            <a:endParaRPr lang="fr-F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Indicateurs de départ (après filtre métier)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31D3CBB-A538-A4F1-F5B8-374E4C3FF9A2}"/>
              </a:ext>
            </a:extLst>
          </p:cNvPr>
          <p:cNvSpPr/>
          <p:nvPr/>
        </p:nvSpPr>
        <p:spPr>
          <a:xfrm>
            <a:off x="8300720" y="2336800"/>
            <a:ext cx="3332480" cy="218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                   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  ~200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Pays / Régions concernés</a:t>
            </a:r>
          </a:p>
          <a:p>
            <a:pPr algn="ctr">
              <a:buNone/>
            </a:pPr>
            <a:endParaRPr lang="fr-FR" b="1" i="0" dirty="0">
              <a:solidFill>
                <a:srgbClr val="FFFFFF"/>
              </a:solidFill>
              <a:effectLst/>
              <a:latin typeface="Segoe UI Bold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08A3357-3AA1-BCF2-97F1-1FA5BC26DE55}"/>
              </a:ext>
            </a:extLst>
          </p:cNvPr>
          <p:cNvCxnSpPr>
            <a:cxnSpLocks/>
          </p:cNvCxnSpPr>
          <p:nvPr/>
        </p:nvCxnSpPr>
        <p:spPr>
          <a:xfrm>
            <a:off x="0" y="109695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92014DB-07AA-F75D-3A56-137A0430A39F}"/>
              </a:ext>
            </a:extLst>
          </p:cNvPr>
          <p:cNvSpPr/>
          <p:nvPr/>
        </p:nvSpPr>
        <p:spPr>
          <a:xfrm>
            <a:off x="4368800" y="2336800"/>
            <a:ext cx="3251200" cy="218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fr-FR" sz="28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1970 - 2020+</a:t>
            </a:r>
          </a:p>
          <a:p>
            <a:pPr algn="ctr">
              <a:spcBef>
                <a:spcPts val="750"/>
              </a:spcBef>
              <a:buNone/>
            </a:pPr>
            <a:r>
              <a:rPr lang="fr-FR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Période couverte (nécessite sélection)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AAB674-36FE-2EFA-4F24-F14F9B78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6265" y="6351229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A87E756-1BBF-CAF5-0611-80B9BA3D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52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6498-145E-6D53-8760-50478F17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D018623-9163-825F-4A3E-4142CBAC9669}"/>
              </a:ext>
            </a:extLst>
          </p:cNvPr>
          <p:cNvSpPr txBox="1"/>
          <p:nvPr/>
        </p:nvSpPr>
        <p:spPr>
          <a:xfrm>
            <a:off x="467360" y="592574"/>
            <a:ext cx="7467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Segoe UI Bold"/>
              </a:rPr>
              <a:t>4. Méthodologie (Phase 1) : Filtrage &amp; Qualité</a:t>
            </a:r>
          </a:p>
        </p:txBody>
      </p:sp>
      <p:sp>
        <p:nvSpPr>
          <p:cNvPr id="8" name="Organigramme : Procédé 7">
            <a:extLst>
              <a:ext uri="{FF2B5EF4-FFF2-40B4-BE49-F238E27FC236}">
                <a16:creationId xmlns:a16="http://schemas.microsoft.com/office/drawing/2014/main" id="{AB59B1F9-95EA-427A-04A1-F44134DF43FD}"/>
              </a:ext>
            </a:extLst>
          </p:cNvPr>
          <p:cNvSpPr/>
          <p:nvPr/>
        </p:nvSpPr>
        <p:spPr>
          <a:xfrm>
            <a:off x="7609840" y="1272630"/>
            <a:ext cx="3556000" cy="2133600"/>
          </a:xfrm>
          <a:prstGeom prst="flowChartProcess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98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         Résultat du Filtre Métier</a:t>
            </a:r>
          </a:p>
          <a:p>
            <a:pPr algn="ctr"/>
            <a:r>
              <a:rPr lang="fr-FR" sz="3200" b="1" dirty="0"/>
              <a:t>1681</a:t>
            </a:r>
            <a:endParaRPr lang="fr-FR" b="1" dirty="0"/>
          </a:p>
          <a:p>
            <a:r>
              <a:rPr lang="fr-FR" dirty="0"/>
              <a:t>Indicateurs uniques pertinents.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EB50BE-3A52-941F-6254-56A1B8A9FC90}"/>
              </a:ext>
            </a:extLst>
          </p:cNvPr>
          <p:cNvSpPr txBox="1"/>
          <p:nvPr/>
        </p:nvSpPr>
        <p:spPr>
          <a:xfrm>
            <a:off x="203200" y="1798096"/>
            <a:ext cx="706120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125"/>
              </a:spcAft>
              <a:buFont typeface="Wingdings" panose="05000000000000000000" pitchFamily="2" charset="2"/>
              <a:buChar char="v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Étape 1 : Pertinence métier (Ex. 2)</a:t>
            </a:r>
          </a:p>
          <a:p>
            <a:pPr algn="l">
              <a:buNone/>
            </a:pPr>
            <a:r>
              <a:rPr lang="fr-FR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Nous avons d'abord isolé les indicateurs qui parlent de 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fr-FR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secondary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 '</a:t>
            </a:r>
            <a:r>
              <a:rPr lang="fr-FR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tertiary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 </a:t>
            </a:r>
            <a:r>
              <a:rPr lang="fr-FR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'</a:t>
            </a:r>
            <a:r>
              <a:rPr lang="fr-FR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'.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fr-FR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Période d'Analyse : </a:t>
            </a:r>
            <a:r>
              <a:rPr lang="fr-FR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Concentration sur les données observées : </a:t>
            </a:r>
            <a:r>
              <a:rPr lang="fr-FR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2010 - 2015</a:t>
            </a:r>
            <a:r>
              <a:rPr lang="fr-FR" b="0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B342BB-189F-7CA7-AFA7-DD7296E4B2C5}"/>
              </a:ext>
            </a:extLst>
          </p:cNvPr>
          <p:cNvSpPr txBox="1"/>
          <p:nvPr/>
        </p:nvSpPr>
        <p:spPr>
          <a:xfrm>
            <a:off x="203200" y="3911346"/>
            <a:ext cx="714248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125"/>
              </a:spcAft>
              <a:buFont typeface="Wingdings" panose="05000000000000000000" pitchFamily="2" charset="2"/>
              <a:buChar char="v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Étape 2 : Filtre de Complétude (Ex. 2)</a:t>
            </a:r>
          </a:p>
          <a:p>
            <a:pPr algn="l">
              <a:buNone/>
            </a:pPr>
            <a:r>
              <a:rPr lang="fr-F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Nous avons appliqué l‘hypothèse de filtrage stricte :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fr-FR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Règle de Complétude :</a:t>
            </a:r>
            <a:r>
              <a:rPr lang="fr-F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80% MIN 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fr-FR" b="0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indicateur doit être renseigné pour ≥ 80% des pays sur la période 2010-2015.</a:t>
            </a:r>
          </a:p>
        </p:txBody>
      </p:sp>
      <p:sp>
        <p:nvSpPr>
          <p:cNvPr id="13" name="Organigramme : Procédé 12">
            <a:extLst>
              <a:ext uri="{FF2B5EF4-FFF2-40B4-BE49-F238E27FC236}">
                <a16:creationId xmlns:a16="http://schemas.microsoft.com/office/drawing/2014/main" id="{C4A84B1D-84C6-63D5-A382-E51A5F1FA433}"/>
              </a:ext>
            </a:extLst>
          </p:cNvPr>
          <p:cNvSpPr/>
          <p:nvPr/>
        </p:nvSpPr>
        <p:spPr>
          <a:xfrm>
            <a:off x="7609840" y="3992879"/>
            <a:ext cx="3556000" cy="2011889"/>
          </a:xfrm>
          <a:prstGeom prst="flowChartProcess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>
            <a:solidFill>
              <a:srgbClr val="00B0F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Réduction par Qualité</a:t>
            </a:r>
          </a:p>
          <a:p>
            <a:pPr algn="ctr"/>
            <a:r>
              <a:rPr lang="fr-FR" sz="2800" b="1" dirty="0"/>
              <a:t>1681 ➔ 584</a:t>
            </a:r>
          </a:p>
          <a:p>
            <a:pPr algn="ctr"/>
            <a:r>
              <a:rPr lang="fr-FR" dirty="0"/>
              <a:t>Indicateurs pertinents et fiables.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B14BD0-A3C0-AE92-DA98-119F8360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0794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73C254-B6BD-9034-A6FB-5C58C926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67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F83C4-C21D-C0B6-FA56-395ADA01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67093E-EE23-7887-28D9-9A4BC7355F64}"/>
              </a:ext>
            </a:extLst>
          </p:cNvPr>
          <p:cNvSpPr txBox="1"/>
          <p:nvPr/>
        </p:nvSpPr>
        <p:spPr>
          <a:xfrm>
            <a:off x="474263" y="46316"/>
            <a:ext cx="7613676" cy="1261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75"/>
              </a:spcAft>
            </a:pPr>
            <a:r>
              <a:rPr lang="en-US" sz="2600" b="1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4. </a:t>
            </a:r>
            <a:r>
              <a:rPr lang="en-US" sz="2600" b="1" i="0" kern="1200" dirty="0" err="1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Méthodologie</a:t>
            </a:r>
            <a:r>
              <a:rPr lang="en-US" sz="2600" b="1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 (Phase 1) : Étape 3 - </a:t>
            </a:r>
            <a:r>
              <a:rPr lang="en-US" sz="2600" b="1" i="0" kern="1200" dirty="0" err="1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L'Anomalie</a:t>
            </a:r>
            <a:r>
              <a:rPr lang="en-US" sz="2600" b="1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 de 2015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br>
              <a:rPr lang="en-US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68304D-1FC7-A1D8-B13C-E092AFBCFD2C}"/>
              </a:ext>
            </a:extLst>
          </p:cNvPr>
          <p:cNvSpPr txBox="1"/>
          <p:nvPr/>
        </p:nvSpPr>
        <p:spPr>
          <a:xfrm>
            <a:off x="301578" y="1785620"/>
            <a:ext cx="6523060" cy="522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complétude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584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indicateurs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restants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révélé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problème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majeur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Proportion </a:t>
            </a: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d'Indicateurs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Renseignés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 Année :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2010: 97.5%</a:t>
            </a: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2011: 99.4%</a:t>
            </a: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2012: 98.9%</a:t>
            </a: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2013: 98.7%</a:t>
            </a: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2014: 99.3%</a:t>
            </a:r>
          </a:p>
          <a:p>
            <a:pPr indent="-228600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2015: 42.0% (Chute </a:t>
            </a:r>
            <a:r>
              <a:rPr lang="en-US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drastique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endParaRPr lang="en-US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Décision</a:t>
            </a:r>
            <a:r>
              <a:rPr lang="en-US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Stratégique</a:t>
            </a:r>
            <a:r>
              <a:rPr lang="en-US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L'année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2015 est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statistiquement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inutilisable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Nous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avons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donc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exclu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Période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d'analyse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finale : 2010 - 2014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5C27D684-2832-41BD-AC29-838243B80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3366" y="0"/>
            <a:ext cx="4918634" cy="6858000"/>
          </a:xfrm>
          <a:custGeom>
            <a:avLst/>
            <a:gdLst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265072 w 4897678"/>
              <a:gd name="connsiteY84" fmla="*/ 352797 h 6858000"/>
              <a:gd name="connsiteX85" fmla="*/ 1275970 w 4897678"/>
              <a:gd name="connsiteY85" fmla="*/ 206812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265072 w 4897678"/>
              <a:gd name="connsiteY84" fmla="*/ 352797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90126 w 4897678"/>
              <a:gd name="connsiteY87" fmla="*/ 68981 h 6858000"/>
              <a:gd name="connsiteX88" fmla="*/ 1296403 w 4897678"/>
              <a:gd name="connsiteY88" fmla="*/ 57111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290126 w 4897678"/>
              <a:gd name="connsiteY87" fmla="*/ 68981 h 6858000"/>
              <a:gd name="connsiteX88" fmla="*/ 1296403 w 4897678"/>
              <a:gd name="connsiteY88" fmla="*/ 57111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290126 w 4897678"/>
              <a:gd name="connsiteY87" fmla="*/ 6898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73630 w 4897678"/>
              <a:gd name="connsiteY83" fmla="*/ 455615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73630 w 4897678"/>
              <a:gd name="connsiteY83" fmla="*/ 455615 h 6858000"/>
              <a:gd name="connsiteX84" fmla="*/ 1413997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916267 w 4897678"/>
              <a:gd name="connsiteY39" fmla="*/ 4639226 h 6858000"/>
              <a:gd name="connsiteX40" fmla="*/ 960970 w 4897678"/>
              <a:gd name="connsiteY40" fmla="*/ 4458968 h 6858000"/>
              <a:gd name="connsiteX41" fmla="*/ 974467 w 4897678"/>
              <a:gd name="connsiteY41" fmla="*/ 4400454 h 6858000"/>
              <a:gd name="connsiteX42" fmla="*/ 1019252 w 4897678"/>
              <a:gd name="connsiteY42" fmla="*/ 4326337 h 6858000"/>
              <a:gd name="connsiteX43" fmla="*/ 1097435 w 4897678"/>
              <a:gd name="connsiteY43" fmla="*/ 4004432 h 6858000"/>
              <a:gd name="connsiteX44" fmla="*/ 1115477 w 4897678"/>
              <a:gd name="connsiteY44" fmla="*/ 3887430 h 6858000"/>
              <a:gd name="connsiteX45" fmla="*/ 1129980 w 4897678"/>
              <a:gd name="connsiteY45" fmla="*/ 3841018 h 6858000"/>
              <a:gd name="connsiteX46" fmla="*/ 1128054 w 4897678"/>
              <a:gd name="connsiteY46" fmla="*/ 3833633 h 6858000"/>
              <a:gd name="connsiteX47" fmla="*/ 1144766 w 4897678"/>
              <a:gd name="connsiteY47" fmla="*/ 3703595 h 6858000"/>
              <a:gd name="connsiteX48" fmla="*/ 1146269 w 4897678"/>
              <a:gd name="connsiteY48" fmla="*/ 3675779 h 6858000"/>
              <a:gd name="connsiteX49" fmla="*/ 1145250 w 4897678"/>
              <a:gd name="connsiteY49" fmla="*/ 3673177 h 6858000"/>
              <a:gd name="connsiteX50" fmla="*/ 1145144 w 4897678"/>
              <a:gd name="connsiteY50" fmla="*/ 3399727 h 6858000"/>
              <a:gd name="connsiteX51" fmla="*/ 1153102 w 4897678"/>
              <a:gd name="connsiteY51" fmla="*/ 3022588 h 6858000"/>
              <a:gd name="connsiteX52" fmla="*/ 1187493 w 4897678"/>
              <a:gd name="connsiteY52" fmla="*/ 2780324 h 6858000"/>
              <a:gd name="connsiteX53" fmla="*/ 1174471 w 4897678"/>
              <a:gd name="connsiteY53" fmla="*/ 2636046 h 6858000"/>
              <a:gd name="connsiteX54" fmla="*/ 1173030 w 4897678"/>
              <a:gd name="connsiteY54" fmla="*/ 2517573 h 6858000"/>
              <a:gd name="connsiteX55" fmla="*/ 1179971 w 4897678"/>
              <a:gd name="connsiteY55" fmla="*/ 2259305 h 6858000"/>
              <a:gd name="connsiteX56" fmla="*/ 1180091 w 4897678"/>
              <a:gd name="connsiteY56" fmla="*/ 2154737 h 6858000"/>
              <a:gd name="connsiteX57" fmla="*/ 1173497 w 4897678"/>
              <a:gd name="connsiteY57" fmla="*/ 2118139 h 6858000"/>
              <a:gd name="connsiteX58" fmla="*/ 1168754 w 4897678"/>
              <a:gd name="connsiteY58" fmla="*/ 2064932 h 6858000"/>
              <a:gd name="connsiteX59" fmla="*/ 1175360 w 4897678"/>
              <a:gd name="connsiteY59" fmla="*/ 2031780 h 6858000"/>
              <a:gd name="connsiteX60" fmla="*/ 1175420 w 4897678"/>
              <a:gd name="connsiteY60" fmla="*/ 2025741 h 6858000"/>
              <a:gd name="connsiteX61" fmla="*/ 1192392 w 4897678"/>
              <a:gd name="connsiteY61" fmla="*/ 1985855 h 6858000"/>
              <a:gd name="connsiteX62" fmla="*/ 1240537 w 4897678"/>
              <a:gd name="connsiteY62" fmla="*/ 1810891 h 6858000"/>
              <a:gd name="connsiteX63" fmla="*/ 1262324 w 4897678"/>
              <a:gd name="connsiteY63" fmla="*/ 1680343 h 6858000"/>
              <a:gd name="connsiteX64" fmla="*/ 1264475 w 4897678"/>
              <a:gd name="connsiteY64" fmla="*/ 1634781 h 6858000"/>
              <a:gd name="connsiteX65" fmla="*/ 1268425 w 4897678"/>
              <a:gd name="connsiteY65" fmla="*/ 1558391 h 6858000"/>
              <a:gd name="connsiteX66" fmla="*/ 1263100 w 4897678"/>
              <a:gd name="connsiteY66" fmla="*/ 1489998 h 6858000"/>
              <a:gd name="connsiteX67" fmla="*/ 1286195 w 4897678"/>
              <a:gd name="connsiteY67" fmla="*/ 1421105 h 6858000"/>
              <a:gd name="connsiteX68" fmla="*/ 1298315 w 4897678"/>
              <a:gd name="connsiteY68" fmla="*/ 1361656 h 6858000"/>
              <a:gd name="connsiteX69" fmla="*/ 1294008 w 4897678"/>
              <a:gd name="connsiteY69" fmla="*/ 1357170 h 6858000"/>
              <a:gd name="connsiteX70" fmla="*/ 1295031 w 4897678"/>
              <a:gd name="connsiteY70" fmla="*/ 1349556 h 6858000"/>
              <a:gd name="connsiteX71" fmla="*/ 1301170 w 4897678"/>
              <a:gd name="connsiteY71" fmla="*/ 1345177 h 6858000"/>
              <a:gd name="connsiteX72" fmla="*/ 1337115 w 4897678"/>
              <a:gd name="connsiteY72" fmla="*/ 1249089 h 6858000"/>
              <a:gd name="connsiteX73" fmla="*/ 1335308 w 4897678"/>
              <a:gd name="connsiteY73" fmla="*/ 1164961 h 6858000"/>
              <a:gd name="connsiteX74" fmla="*/ 1365049 w 4897678"/>
              <a:gd name="connsiteY74" fmla="*/ 1102487 h 6858000"/>
              <a:gd name="connsiteX75" fmla="*/ 1380977 w 4897678"/>
              <a:gd name="connsiteY75" fmla="*/ 1051638 h 6858000"/>
              <a:gd name="connsiteX76" fmla="*/ 1360650 w 4897678"/>
              <a:gd name="connsiteY76" fmla="*/ 950605 h 6858000"/>
              <a:gd name="connsiteX77" fmla="*/ 1321700 w 4897678"/>
              <a:gd name="connsiteY77" fmla="*/ 890133 h 6858000"/>
              <a:gd name="connsiteX78" fmla="*/ 1306943 w 4897678"/>
              <a:gd name="connsiteY78" fmla="*/ 779617 h 6858000"/>
              <a:gd name="connsiteX79" fmla="*/ 1304115 w 4897678"/>
              <a:gd name="connsiteY79" fmla="*/ 737583 h 6858000"/>
              <a:gd name="connsiteX80" fmla="*/ 1363659 w 4897678"/>
              <a:gd name="connsiteY80" fmla="*/ 600848 h 6858000"/>
              <a:gd name="connsiteX81" fmla="*/ 1357066 w 4897678"/>
              <a:gd name="connsiteY81" fmla="*/ 530653 h 6858000"/>
              <a:gd name="connsiteX82" fmla="*/ 1373630 w 4897678"/>
              <a:gd name="connsiteY82" fmla="*/ 455615 h 6858000"/>
              <a:gd name="connsiteX83" fmla="*/ 1413997 w 4897678"/>
              <a:gd name="connsiteY83" fmla="*/ 334926 h 6858000"/>
              <a:gd name="connsiteX84" fmla="*/ 1442766 w 4897678"/>
              <a:gd name="connsiteY84" fmla="*/ 236597 h 6858000"/>
              <a:gd name="connsiteX85" fmla="*/ 1470206 w 4897678"/>
              <a:gd name="connsiteY85" fmla="*/ 182099 h 6858000"/>
              <a:gd name="connsiteX86" fmla="*/ 1462879 w 4897678"/>
              <a:gd name="connsiteY86" fmla="*/ 128551 h 6858000"/>
              <a:gd name="connsiteX87" fmla="*/ 1481070 w 4897678"/>
              <a:gd name="connsiteY87" fmla="*/ 69025 h 6858000"/>
              <a:gd name="connsiteX88" fmla="*/ 1504205 w 4897678"/>
              <a:gd name="connsiteY88" fmla="*/ 42915 h 6858000"/>
              <a:gd name="connsiteX89" fmla="*/ 1553576 w 4897678"/>
              <a:gd name="connsiteY89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779657 w 4897678"/>
              <a:gd name="connsiteY37" fmla="*/ 5057680 h 6858000"/>
              <a:gd name="connsiteX38" fmla="*/ 916267 w 4897678"/>
              <a:gd name="connsiteY38" fmla="*/ 4639226 h 6858000"/>
              <a:gd name="connsiteX39" fmla="*/ 960970 w 4897678"/>
              <a:gd name="connsiteY39" fmla="*/ 4458968 h 6858000"/>
              <a:gd name="connsiteX40" fmla="*/ 974467 w 4897678"/>
              <a:gd name="connsiteY40" fmla="*/ 4400454 h 6858000"/>
              <a:gd name="connsiteX41" fmla="*/ 1019252 w 4897678"/>
              <a:gd name="connsiteY41" fmla="*/ 4326337 h 6858000"/>
              <a:gd name="connsiteX42" fmla="*/ 1097435 w 4897678"/>
              <a:gd name="connsiteY42" fmla="*/ 4004432 h 6858000"/>
              <a:gd name="connsiteX43" fmla="*/ 1115477 w 4897678"/>
              <a:gd name="connsiteY43" fmla="*/ 3887430 h 6858000"/>
              <a:gd name="connsiteX44" fmla="*/ 1129980 w 4897678"/>
              <a:gd name="connsiteY44" fmla="*/ 3841018 h 6858000"/>
              <a:gd name="connsiteX45" fmla="*/ 1128054 w 4897678"/>
              <a:gd name="connsiteY45" fmla="*/ 3833633 h 6858000"/>
              <a:gd name="connsiteX46" fmla="*/ 1144766 w 4897678"/>
              <a:gd name="connsiteY46" fmla="*/ 3703595 h 6858000"/>
              <a:gd name="connsiteX47" fmla="*/ 1146269 w 4897678"/>
              <a:gd name="connsiteY47" fmla="*/ 3675779 h 6858000"/>
              <a:gd name="connsiteX48" fmla="*/ 1145250 w 4897678"/>
              <a:gd name="connsiteY48" fmla="*/ 3673177 h 6858000"/>
              <a:gd name="connsiteX49" fmla="*/ 1145144 w 4897678"/>
              <a:gd name="connsiteY49" fmla="*/ 3399727 h 6858000"/>
              <a:gd name="connsiteX50" fmla="*/ 1153102 w 4897678"/>
              <a:gd name="connsiteY50" fmla="*/ 3022588 h 6858000"/>
              <a:gd name="connsiteX51" fmla="*/ 1187493 w 4897678"/>
              <a:gd name="connsiteY51" fmla="*/ 2780324 h 6858000"/>
              <a:gd name="connsiteX52" fmla="*/ 1174471 w 4897678"/>
              <a:gd name="connsiteY52" fmla="*/ 2636046 h 6858000"/>
              <a:gd name="connsiteX53" fmla="*/ 1173030 w 4897678"/>
              <a:gd name="connsiteY53" fmla="*/ 2517573 h 6858000"/>
              <a:gd name="connsiteX54" fmla="*/ 1179971 w 4897678"/>
              <a:gd name="connsiteY54" fmla="*/ 2259305 h 6858000"/>
              <a:gd name="connsiteX55" fmla="*/ 1180091 w 4897678"/>
              <a:gd name="connsiteY55" fmla="*/ 2154737 h 6858000"/>
              <a:gd name="connsiteX56" fmla="*/ 1173497 w 4897678"/>
              <a:gd name="connsiteY56" fmla="*/ 2118139 h 6858000"/>
              <a:gd name="connsiteX57" fmla="*/ 1168754 w 4897678"/>
              <a:gd name="connsiteY57" fmla="*/ 2064932 h 6858000"/>
              <a:gd name="connsiteX58" fmla="*/ 1175360 w 4897678"/>
              <a:gd name="connsiteY58" fmla="*/ 2031780 h 6858000"/>
              <a:gd name="connsiteX59" fmla="*/ 1175420 w 4897678"/>
              <a:gd name="connsiteY59" fmla="*/ 2025741 h 6858000"/>
              <a:gd name="connsiteX60" fmla="*/ 1192392 w 4897678"/>
              <a:gd name="connsiteY60" fmla="*/ 1985855 h 6858000"/>
              <a:gd name="connsiteX61" fmla="*/ 1240537 w 4897678"/>
              <a:gd name="connsiteY61" fmla="*/ 1810891 h 6858000"/>
              <a:gd name="connsiteX62" fmla="*/ 1262324 w 4897678"/>
              <a:gd name="connsiteY62" fmla="*/ 1680343 h 6858000"/>
              <a:gd name="connsiteX63" fmla="*/ 1264475 w 4897678"/>
              <a:gd name="connsiteY63" fmla="*/ 1634781 h 6858000"/>
              <a:gd name="connsiteX64" fmla="*/ 1268425 w 4897678"/>
              <a:gd name="connsiteY64" fmla="*/ 1558391 h 6858000"/>
              <a:gd name="connsiteX65" fmla="*/ 1263100 w 4897678"/>
              <a:gd name="connsiteY65" fmla="*/ 1489998 h 6858000"/>
              <a:gd name="connsiteX66" fmla="*/ 1286195 w 4897678"/>
              <a:gd name="connsiteY66" fmla="*/ 1421105 h 6858000"/>
              <a:gd name="connsiteX67" fmla="*/ 1298315 w 4897678"/>
              <a:gd name="connsiteY67" fmla="*/ 1361656 h 6858000"/>
              <a:gd name="connsiteX68" fmla="*/ 1294008 w 4897678"/>
              <a:gd name="connsiteY68" fmla="*/ 1357170 h 6858000"/>
              <a:gd name="connsiteX69" fmla="*/ 1295031 w 4897678"/>
              <a:gd name="connsiteY69" fmla="*/ 1349556 h 6858000"/>
              <a:gd name="connsiteX70" fmla="*/ 1301170 w 4897678"/>
              <a:gd name="connsiteY70" fmla="*/ 1345177 h 6858000"/>
              <a:gd name="connsiteX71" fmla="*/ 1337115 w 4897678"/>
              <a:gd name="connsiteY71" fmla="*/ 1249089 h 6858000"/>
              <a:gd name="connsiteX72" fmla="*/ 1335308 w 4897678"/>
              <a:gd name="connsiteY72" fmla="*/ 1164961 h 6858000"/>
              <a:gd name="connsiteX73" fmla="*/ 1365049 w 4897678"/>
              <a:gd name="connsiteY73" fmla="*/ 1102487 h 6858000"/>
              <a:gd name="connsiteX74" fmla="*/ 1380977 w 4897678"/>
              <a:gd name="connsiteY74" fmla="*/ 1051638 h 6858000"/>
              <a:gd name="connsiteX75" fmla="*/ 1360650 w 4897678"/>
              <a:gd name="connsiteY75" fmla="*/ 950605 h 6858000"/>
              <a:gd name="connsiteX76" fmla="*/ 1321700 w 4897678"/>
              <a:gd name="connsiteY76" fmla="*/ 890133 h 6858000"/>
              <a:gd name="connsiteX77" fmla="*/ 1306943 w 4897678"/>
              <a:gd name="connsiteY77" fmla="*/ 779617 h 6858000"/>
              <a:gd name="connsiteX78" fmla="*/ 1304115 w 4897678"/>
              <a:gd name="connsiteY78" fmla="*/ 737583 h 6858000"/>
              <a:gd name="connsiteX79" fmla="*/ 1363659 w 4897678"/>
              <a:gd name="connsiteY79" fmla="*/ 600848 h 6858000"/>
              <a:gd name="connsiteX80" fmla="*/ 1357066 w 4897678"/>
              <a:gd name="connsiteY80" fmla="*/ 530653 h 6858000"/>
              <a:gd name="connsiteX81" fmla="*/ 1373630 w 4897678"/>
              <a:gd name="connsiteY81" fmla="*/ 455615 h 6858000"/>
              <a:gd name="connsiteX82" fmla="*/ 1413997 w 4897678"/>
              <a:gd name="connsiteY82" fmla="*/ 334926 h 6858000"/>
              <a:gd name="connsiteX83" fmla="*/ 1442766 w 4897678"/>
              <a:gd name="connsiteY83" fmla="*/ 236597 h 6858000"/>
              <a:gd name="connsiteX84" fmla="*/ 1470206 w 4897678"/>
              <a:gd name="connsiteY84" fmla="*/ 182099 h 6858000"/>
              <a:gd name="connsiteX85" fmla="*/ 1462879 w 4897678"/>
              <a:gd name="connsiteY85" fmla="*/ 128551 h 6858000"/>
              <a:gd name="connsiteX86" fmla="*/ 1481070 w 4897678"/>
              <a:gd name="connsiteY86" fmla="*/ 69025 h 6858000"/>
              <a:gd name="connsiteX87" fmla="*/ 1504205 w 4897678"/>
              <a:gd name="connsiteY87" fmla="*/ 42915 h 6858000"/>
              <a:gd name="connsiteX88" fmla="*/ 1553576 w 4897678"/>
              <a:gd name="connsiteY88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739205 w 4897678"/>
              <a:gd name="connsiteY36" fmla="*/ 4844222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604868 w 4897678"/>
              <a:gd name="connsiteY35" fmla="*/ 4966224 h 6858000"/>
              <a:gd name="connsiteX36" fmla="*/ 739205 w 4897678"/>
              <a:gd name="connsiteY36" fmla="*/ 4844222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76460 w 4897678"/>
              <a:gd name="connsiteY28" fmla="*/ 5308801 h 6858000"/>
              <a:gd name="connsiteX29" fmla="*/ 378745 w 4897678"/>
              <a:gd name="connsiteY29" fmla="*/ 5296204 h 6858000"/>
              <a:gd name="connsiteX30" fmla="*/ 402007 w 4897678"/>
              <a:gd name="connsiteY30" fmla="*/ 5241278 h 6858000"/>
              <a:gd name="connsiteX31" fmla="*/ 410672 w 4897678"/>
              <a:gd name="connsiteY31" fmla="*/ 5231022 h 6858000"/>
              <a:gd name="connsiteX32" fmla="*/ 442663 w 4897678"/>
              <a:gd name="connsiteY32" fmla="*/ 5192994 h 6858000"/>
              <a:gd name="connsiteX33" fmla="*/ 488625 w 4897678"/>
              <a:gd name="connsiteY33" fmla="*/ 5065268 h 6858000"/>
              <a:gd name="connsiteX34" fmla="*/ 604868 w 4897678"/>
              <a:gd name="connsiteY34" fmla="*/ 4966224 h 6858000"/>
              <a:gd name="connsiteX35" fmla="*/ 739205 w 4897678"/>
              <a:gd name="connsiteY35" fmla="*/ 4844222 h 6858000"/>
              <a:gd name="connsiteX36" fmla="*/ 916267 w 4897678"/>
              <a:gd name="connsiteY36" fmla="*/ 4639226 h 6858000"/>
              <a:gd name="connsiteX37" fmla="*/ 960970 w 4897678"/>
              <a:gd name="connsiteY37" fmla="*/ 4458968 h 6858000"/>
              <a:gd name="connsiteX38" fmla="*/ 974467 w 4897678"/>
              <a:gd name="connsiteY38" fmla="*/ 4400454 h 6858000"/>
              <a:gd name="connsiteX39" fmla="*/ 1019252 w 4897678"/>
              <a:gd name="connsiteY39" fmla="*/ 4326337 h 6858000"/>
              <a:gd name="connsiteX40" fmla="*/ 1097435 w 4897678"/>
              <a:gd name="connsiteY40" fmla="*/ 4004432 h 6858000"/>
              <a:gd name="connsiteX41" fmla="*/ 1115477 w 4897678"/>
              <a:gd name="connsiteY41" fmla="*/ 3887430 h 6858000"/>
              <a:gd name="connsiteX42" fmla="*/ 1129980 w 4897678"/>
              <a:gd name="connsiteY42" fmla="*/ 3841018 h 6858000"/>
              <a:gd name="connsiteX43" fmla="*/ 1128054 w 4897678"/>
              <a:gd name="connsiteY43" fmla="*/ 3833633 h 6858000"/>
              <a:gd name="connsiteX44" fmla="*/ 1144766 w 4897678"/>
              <a:gd name="connsiteY44" fmla="*/ 3703595 h 6858000"/>
              <a:gd name="connsiteX45" fmla="*/ 1146269 w 4897678"/>
              <a:gd name="connsiteY45" fmla="*/ 3675779 h 6858000"/>
              <a:gd name="connsiteX46" fmla="*/ 1145250 w 4897678"/>
              <a:gd name="connsiteY46" fmla="*/ 3673177 h 6858000"/>
              <a:gd name="connsiteX47" fmla="*/ 1145144 w 4897678"/>
              <a:gd name="connsiteY47" fmla="*/ 3399727 h 6858000"/>
              <a:gd name="connsiteX48" fmla="*/ 1153102 w 4897678"/>
              <a:gd name="connsiteY48" fmla="*/ 3022588 h 6858000"/>
              <a:gd name="connsiteX49" fmla="*/ 1187493 w 4897678"/>
              <a:gd name="connsiteY49" fmla="*/ 2780324 h 6858000"/>
              <a:gd name="connsiteX50" fmla="*/ 1174471 w 4897678"/>
              <a:gd name="connsiteY50" fmla="*/ 2636046 h 6858000"/>
              <a:gd name="connsiteX51" fmla="*/ 1173030 w 4897678"/>
              <a:gd name="connsiteY51" fmla="*/ 2517573 h 6858000"/>
              <a:gd name="connsiteX52" fmla="*/ 1179971 w 4897678"/>
              <a:gd name="connsiteY52" fmla="*/ 2259305 h 6858000"/>
              <a:gd name="connsiteX53" fmla="*/ 1180091 w 4897678"/>
              <a:gd name="connsiteY53" fmla="*/ 2154737 h 6858000"/>
              <a:gd name="connsiteX54" fmla="*/ 1173497 w 4897678"/>
              <a:gd name="connsiteY54" fmla="*/ 2118139 h 6858000"/>
              <a:gd name="connsiteX55" fmla="*/ 1168754 w 4897678"/>
              <a:gd name="connsiteY55" fmla="*/ 2064932 h 6858000"/>
              <a:gd name="connsiteX56" fmla="*/ 1175360 w 4897678"/>
              <a:gd name="connsiteY56" fmla="*/ 2031780 h 6858000"/>
              <a:gd name="connsiteX57" fmla="*/ 1175420 w 4897678"/>
              <a:gd name="connsiteY57" fmla="*/ 2025741 h 6858000"/>
              <a:gd name="connsiteX58" fmla="*/ 1192392 w 4897678"/>
              <a:gd name="connsiteY58" fmla="*/ 1985855 h 6858000"/>
              <a:gd name="connsiteX59" fmla="*/ 1240537 w 4897678"/>
              <a:gd name="connsiteY59" fmla="*/ 1810891 h 6858000"/>
              <a:gd name="connsiteX60" fmla="*/ 1262324 w 4897678"/>
              <a:gd name="connsiteY60" fmla="*/ 1680343 h 6858000"/>
              <a:gd name="connsiteX61" fmla="*/ 1264475 w 4897678"/>
              <a:gd name="connsiteY61" fmla="*/ 1634781 h 6858000"/>
              <a:gd name="connsiteX62" fmla="*/ 1268425 w 4897678"/>
              <a:gd name="connsiteY62" fmla="*/ 1558391 h 6858000"/>
              <a:gd name="connsiteX63" fmla="*/ 1263100 w 4897678"/>
              <a:gd name="connsiteY63" fmla="*/ 1489998 h 6858000"/>
              <a:gd name="connsiteX64" fmla="*/ 1286195 w 4897678"/>
              <a:gd name="connsiteY64" fmla="*/ 1421105 h 6858000"/>
              <a:gd name="connsiteX65" fmla="*/ 1298315 w 4897678"/>
              <a:gd name="connsiteY65" fmla="*/ 1361656 h 6858000"/>
              <a:gd name="connsiteX66" fmla="*/ 1294008 w 4897678"/>
              <a:gd name="connsiteY66" fmla="*/ 1357170 h 6858000"/>
              <a:gd name="connsiteX67" fmla="*/ 1295031 w 4897678"/>
              <a:gd name="connsiteY67" fmla="*/ 1349556 h 6858000"/>
              <a:gd name="connsiteX68" fmla="*/ 1301170 w 4897678"/>
              <a:gd name="connsiteY68" fmla="*/ 1345177 h 6858000"/>
              <a:gd name="connsiteX69" fmla="*/ 1337115 w 4897678"/>
              <a:gd name="connsiteY69" fmla="*/ 1249089 h 6858000"/>
              <a:gd name="connsiteX70" fmla="*/ 1335308 w 4897678"/>
              <a:gd name="connsiteY70" fmla="*/ 1164961 h 6858000"/>
              <a:gd name="connsiteX71" fmla="*/ 1365049 w 4897678"/>
              <a:gd name="connsiteY71" fmla="*/ 1102487 h 6858000"/>
              <a:gd name="connsiteX72" fmla="*/ 1380977 w 4897678"/>
              <a:gd name="connsiteY72" fmla="*/ 1051638 h 6858000"/>
              <a:gd name="connsiteX73" fmla="*/ 1360650 w 4897678"/>
              <a:gd name="connsiteY73" fmla="*/ 950605 h 6858000"/>
              <a:gd name="connsiteX74" fmla="*/ 1321700 w 4897678"/>
              <a:gd name="connsiteY74" fmla="*/ 890133 h 6858000"/>
              <a:gd name="connsiteX75" fmla="*/ 1306943 w 4897678"/>
              <a:gd name="connsiteY75" fmla="*/ 779617 h 6858000"/>
              <a:gd name="connsiteX76" fmla="*/ 1304115 w 4897678"/>
              <a:gd name="connsiteY76" fmla="*/ 737583 h 6858000"/>
              <a:gd name="connsiteX77" fmla="*/ 1363659 w 4897678"/>
              <a:gd name="connsiteY77" fmla="*/ 600848 h 6858000"/>
              <a:gd name="connsiteX78" fmla="*/ 1357066 w 4897678"/>
              <a:gd name="connsiteY78" fmla="*/ 530653 h 6858000"/>
              <a:gd name="connsiteX79" fmla="*/ 1373630 w 4897678"/>
              <a:gd name="connsiteY79" fmla="*/ 455615 h 6858000"/>
              <a:gd name="connsiteX80" fmla="*/ 1413997 w 4897678"/>
              <a:gd name="connsiteY80" fmla="*/ 334926 h 6858000"/>
              <a:gd name="connsiteX81" fmla="*/ 1442766 w 4897678"/>
              <a:gd name="connsiteY81" fmla="*/ 236597 h 6858000"/>
              <a:gd name="connsiteX82" fmla="*/ 1470206 w 4897678"/>
              <a:gd name="connsiteY82" fmla="*/ 182099 h 6858000"/>
              <a:gd name="connsiteX83" fmla="*/ 1462879 w 4897678"/>
              <a:gd name="connsiteY83" fmla="*/ 128551 h 6858000"/>
              <a:gd name="connsiteX84" fmla="*/ 1481070 w 4897678"/>
              <a:gd name="connsiteY84" fmla="*/ 69025 h 6858000"/>
              <a:gd name="connsiteX85" fmla="*/ 1504205 w 4897678"/>
              <a:gd name="connsiteY85" fmla="*/ 42915 h 6858000"/>
              <a:gd name="connsiteX86" fmla="*/ 1553576 w 4897678"/>
              <a:gd name="connsiteY86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76460 w 4897678"/>
              <a:gd name="connsiteY28" fmla="*/ 5308801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604868 w 4897678"/>
              <a:gd name="connsiteY32" fmla="*/ 4966224 h 6858000"/>
              <a:gd name="connsiteX33" fmla="*/ 739205 w 4897678"/>
              <a:gd name="connsiteY33" fmla="*/ 4844222 h 6858000"/>
              <a:gd name="connsiteX34" fmla="*/ 916267 w 4897678"/>
              <a:gd name="connsiteY34" fmla="*/ 4639226 h 6858000"/>
              <a:gd name="connsiteX35" fmla="*/ 960970 w 4897678"/>
              <a:gd name="connsiteY35" fmla="*/ 4458968 h 6858000"/>
              <a:gd name="connsiteX36" fmla="*/ 974467 w 4897678"/>
              <a:gd name="connsiteY36" fmla="*/ 4400454 h 6858000"/>
              <a:gd name="connsiteX37" fmla="*/ 1019252 w 4897678"/>
              <a:gd name="connsiteY37" fmla="*/ 4326337 h 6858000"/>
              <a:gd name="connsiteX38" fmla="*/ 1097435 w 4897678"/>
              <a:gd name="connsiteY38" fmla="*/ 4004432 h 6858000"/>
              <a:gd name="connsiteX39" fmla="*/ 1115477 w 4897678"/>
              <a:gd name="connsiteY39" fmla="*/ 3887430 h 6858000"/>
              <a:gd name="connsiteX40" fmla="*/ 1129980 w 4897678"/>
              <a:gd name="connsiteY40" fmla="*/ 3841018 h 6858000"/>
              <a:gd name="connsiteX41" fmla="*/ 1128054 w 4897678"/>
              <a:gd name="connsiteY41" fmla="*/ 3833633 h 6858000"/>
              <a:gd name="connsiteX42" fmla="*/ 1144766 w 4897678"/>
              <a:gd name="connsiteY42" fmla="*/ 3703595 h 6858000"/>
              <a:gd name="connsiteX43" fmla="*/ 1146269 w 4897678"/>
              <a:gd name="connsiteY43" fmla="*/ 3675779 h 6858000"/>
              <a:gd name="connsiteX44" fmla="*/ 1145250 w 4897678"/>
              <a:gd name="connsiteY44" fmla="*/ 3673177 h 6858000"/>
              <a:gd name="connsiteX45" fmla="*/ 1145144 w 4897678"/>
              <a:gd name="connsiteY45" fmla="*/ 3399727 h 6858000"/>
              <a:gd name="connsiteX46" fmla="*/ 1153102 w 4897678"/>
              <a:gd name="connsiteY46" fmla="*/ 3022588 h 6858000"/>
              <a:gd name="connsiteX47" fmla="*/ 1187493 w 4897678"/>
              <a:gd name="connsiteY47" fmla="*/ 2780324 h 6858000"/>
              <a:gd name="connsiteX48" fmla="*/ 1174471 w 4897678"/>
              <a:gd name="connsiteY48" fmla="*/ 2636046 h 6858000"/>
              <a:gd name="connsiteX49" fmla="*/ 1173030 w 4897678"/>
              <a:gd name="connsiteY49" fmla="*/ 2517573 h 6858000"/>
              <a:gd name="connsiteX50" fmla="*/ 1179971 w 4897678"/>
              <a:gd name="connsiteY50" fmla="*/ 2259305 h 6858000"/>
              <a:gd name="connsiteX51" fmla="*/ 1180091 w 4897678"/>
              <a:gd name="connsiteY51" fmla="*/ 2154737 h 6858000"/>
              <a:gd name="connsiteX52" fmla="*/ 1173497 w 4897678"/>
              <a:gd name="connsiteY52" fmla="*/ 2118139 h 6858000"/>
              <a:gd name="connsiteX53" fmla="*/ 1168754 w 4897678"/>
              <a:gd name="connsiteY53" fmla="*/ 2064932 h 6858000"/>
              <a:gd name="connsiteX54" fmla="*/ 1175360 w 4897678"/>
              <a:gd name="connsiteY54" fmla="*/ 2031780 h 6858000"/>
              <a:gd name="connsiteX55" fmla="*/ 1175420 w 4897678"/>
              <a:gd name="connsiteY55" fmla="*/ 2025741 h 6858000"/>
              <a:gd name="connsiteX56" fmla="*/ 1192392 w 4897678"/>
              <a:gd name="connsiteY56" fmla="*/ 1985855 h 6858000"/>
              <a:gd name="connsiteX57" fmla="*/ 1240537 w 4897678"/>
              <a:gd name="connsiteY57" fmla="*/ 1810891 h 6858000"/>
              <a:gd name="connsiteX58" fmla="*/ 1262324 w 4897678"/>
              <a:gd name="connsiteY58" fmla="*/ 1680343 h 6858000"/>
              <a:gd name="connsiteX59" fmla="*/ 1264475 w 4897678"/>
              <a:gd name="connsiteY59" fmla="*/ 1634781 h 6858000"/>
              <a:gd name="connsiteX60" fmla="*/ 1268425 w 4897678"/>
              <a:gd name="connsiteY60" fmla="*/ 1558391 h 6858000"/>
              <a:gd name="connsiteX61" fmla="*/ 1263100 w 4897678"/>
              <a:gd name="connsiteY61" fmla="*/ 1489998 h 6858000"/>
              <a:gd name="connsiteX62" fmla="*/ 1286195 w 4897678"/>
              <a:gd name="connsiteY62" fmla="*/ 1421105 h 6858000"/>
              <a:gd name="connsiteX63" fmla="*/ 1298315 w 4897678"/>
              <a:gd name="connsiteY63" fmla="*/ 1361656 h 6858000"/>
              <a:gd name="connsiteX64" fmla="*/ 1294008 w 4897678"/>
              <a:gd name="connsiteY64" fmla="*/ 1357170 h 6858000"/>
              <a:gd name="connsiteX65" fmla="*/ 1295031 w 4897678"/>
              <a:gd name="connsiteY65" fmla="*/ 1349556 h 6858000"/>
              <a:gd name="connsiteX66" fmla="*/ 1301170 w 4897678"/>
              <a:gd name="connsiteY66" fmla="*/ 1345177 h 6858000"/>
              <a:gd name="connsiteX67" fmla="*/ 1337115 w 4897678"/>
              <a:gd name="connsiteY67" fmla="*/ 1249089 h 6858000"/>
              <a:gd name="connsiteX68" fmla="*/ 1335308 w 4897678"/>
              <a:gd name="connsiteY68" fmla="*/ 1164961 h 6858000"/>
              <a:gd name="connsiteX69" fmla="*/ 1365049 w 4897678"/>
              <a:gd name="connsiteY69" fmla="*/ 1102487 h 6858000"/>
              <a:gd name="connsiteX70" fmla="*/ 1380977 w 4897678"/>
              <a:gd name="connsiteY70" fmla="*/ 1051638 h 6858000"/>
              <a:gd name="connsiteX71" fmla="*/ 1360650 w 4897678"/>
              <a:gd name="connsiteY71" fmla="*/ 950605 h 6858000"/>
              <a:gd name="connsiteX72" fmla="*/ 1321700 w 4897678"/>
              <a:gd name="connsiteY72" fmla="*/ 890133 h 6858000"/>
              <a:gd name="connsiteX73" fmla="*/ 1306943 w 4897678"/>
              <a:gd name="connsiteY73" fmla="*/ 779617 h 6858000"/>
              <a:gd name="connsiteX74" fmla="*/ 1304115 w 4897678"/>
              <a:gd name="connsiteY74" fmla="*/ 737583 h 6858000"/>
              <a:gd name="connsiteX75" fmla="*/ 1363659 w 4897678"/>
              <a:gd name="connsiteY75" fmla="*/ 600848 h 6858000"/>
              <a:gd name="connsiteX76" fmla="*/ 1357066 w 4897678"/>
              <a:gd name="connsiteY76" fmla="*/ 530653 h 6858000"/>
              <a:gd name="connsiteX77" fmla="*/ 1373630 w 4897678"/>
              <a:gd name="connsiteY77" fmla="*/ 455615 h 6858000"/>
              <a:gd name="connsiteX78" fmla="*/ 1413997 w 4897678"/>
              <a:gd name="connsiteY78" fmla="*/ 334926 h 6858000"/>
              <a:gd name="connsiteX79" fmla="*/ 1442766 w 4897678"/>
              <a:gd name="connsiteY79" fmla="*/ 236597 h 6858000"/>
              <a:gd name="connsiteX80" fmla="*/ 1470206 w 4897678"/>
              <a:gd name="connsiteY80" fmla="*/ 182099 h 6858000"/>
              <a:gd name="connsiteX81" fmla="*/ 1462879 w 4897678"/>
              <a:gd name="connsiteY81" fmla="*/ 128551 h 6858000"/>
              <a:gd name="connsiteX82" fmla="*/ 1481070 w 4897678"/>
              <a:gd name="connsiteY82" fmla="*/ 69025 h 6858000"/>
              <a:gd name="connsiteX83" fmla="*/ 1504205 w 4897678"/>
              <a:gd name="connsiteY83" fmla="*/ 42915 h 6858000"/>
              <a:gd name="connsiteX84" fmla="*/ 1553576 w 4897678"/>
              <a:gd name="connsiteY84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501081 w 4897678"/>
              <a:gd name="connsiteY81" fmla="*/ 89121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85390 w 4897678"/>
              <a:gd name="connsiteY13" fmla="*/ 6460270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52856 w 4897678"/>
              <a:gd name="connsiteY7" fmla="*/ 6696748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85390 w 4897678"/>
              <a:gd name="connsiteY13" fmla="*/ 6460270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897678" h="6858000">
                <a:moveTo>
                  <a:pt x="1553576" y="0"/>
                </a:moveTo>
                <a:lnTo>
                  <a:pt x="4897678" y="0"/>
                </a:lnTo>
                <a:lnTo>
                  <a:pt x="4897678" y="6858000"/>
                </a:lnTo>
                <a:lnTo>
                  <a:pt x="0" y="6858000"/>
                </a:lnTo>
                <a:lnTo>
                  <a:pt x="153" y="6857440"/>
                </a:lnTo>
                <a:cubicBezTo>
                  <a:pt x="5083" y="6847546"/>
                  <a:pt x="14234" y="6832974"/>
                  <a:pt x="30867" y="6809563"/>
                </a:cubicBezTo>
                <a:cubicBezTo>
                  <a:pt x="24219" y="6797941"/>
                  <a:pt x="28810" y="6785613"/>
                  <a:pt x="42695" y="6765511"/>
                </a:cubicBezTo>
                <a:cubicBezTo>
                  <a:pt x="59269" y="6727996"/>
                  <a:pt x="20378" y="6732956"/>
                  <a:pt x="52856" y="6696748"/>
                </a:cubicBezTo>
                <a:lnTo>
                  <a:pt x="97271" y="6623770"/>
                </a:lnTo>
                <a:cubicBezTo>
                  <a:pt x="100242" y="6627814"/>
                  <a:pt x="102661" y="6576527"/>
                  <a:pt x="109528" y="6561395"/>
                </a:cubicBezTo>
                <a:cubicBezTo>
                  <a:pt x="121751" y="6529041"/>
                  <a:pt x="144143" y="6527264"/>
                  <a:pt x="134058" y="6505906"/>
                </a:cubicBezTo>
                <a:lnTo>
                  <a:pt x="130808" y="6500603"/>
                </a:lnTo>
                <a:lnTo>
                  <a:pt x="133434" y="6493382"/>
                </a:lnTo>
                <a:cubicBezTo>
                  <a:pt x="135405" y="6489789"/>
                  <a:pt x="182615" y="6458140"/>
                  <a:pt x="185390" y="6460270"/>
                </a:cubicBezTo>
                <a:cubicBezTo>
                  <a:pt x="187037" y="6425066"/>
                  <a:pt x="177989" y="6431680"/>
                  <a:pt x="195994" y="6404216"/>
                </a:cubicBezTo>
                <a:cubicBezTo>
                  <a:pt x="194733" y="6376164"/>
                  <a:pt x="248157" y="6408016"/>
                  <a:pt x="277225" y="6346762"/>
                </a:cubicBezTo>
                <a:lnTo>
                  <a:pt x="279592" y="6292076"/>
                </a:lnTo>
                <a:lnTo>
                  <a:pt x="279475" y="6223342"/>
                </a:lnTo>
                <a:lnTo>
                  <a:pt x="310206" y="6270812"/>
                </a:lnTo>
                <a:lnTo>
                  <a:pt x="321064" y="6227890"/>
                </a:lnTo>
                <a:lnTo>
                  <a:pt x="282704" y="6117636"/>
                </a:lnTo>
                <a:cubicBezTo>
                  <a:pt x="287578" y="6073252"/>
                  <a:pt x="228632" y="6103262"/>
                  <a:pt x="257561" y="6050242"/>
                </a:cubicBezTo>
                <a:cubicBezTo>
                  <a:pt x="261977" y="6008758"/>
                  <a:pt x="252117" y="5979642"/>
                  <a:pt x="266735" y="5939124"/>
                </a:cubicBezTo>
                <a:cubicBezTo>
                  <a:pt x="257326" y="5930296"/>
                  <a:pt x="254506" y="5918965"/>
                  <a:pt x="272947" y="5897456"/>
                </a:cubicBezTo>
                <a:lnTo>
                  <a:pt x="302110" y="5763866"/>
                </a:lnTo>
                <a:cubicBezTo>
                  <a:pt x="289286" y="5751252"/>
                  <a:pt x="326941" y="5730258"/>
                  <a:pt x="311387" y="5718432"/>
                </a:cubicBezTo>
                <a:cubicBezTo>
                  <a:pt x="309659" y="5692261"/>
                  <a:pt x="290822" y="5641050"/>
                  <a:pt x="291749" y="5606846"/>
                </a:cubicBezTo>
                <a:cubicBezTo>
                  <a:pt x="355141" y="5518667"/>
                  <a:pt x="362905" y="5574781"/>
                  <a:pt x="386282" y="5513206"/>
                </a:cubicBezTo>
                <a:cubicBezTo>
                  <a:pt x="400400" y="5463532"/>
                  <a:pt x="435499" y="5431641"/>
                  <a:pt x="445799" y="5395474"/>
                </a:cubicBezTo>
                <a:lnTo>
                  <a:pt x="532017" y="5284615"/>
                </a:lnTo>
                <a:lnTo>
                  <a:pt x="506013" y="5187685"/>
                </a:lnTo>
                <a:cubicBezTo>
                  <a:pt x="539823" y="5141843"/>
                  <a:pt x="550113" y="5030691"/>
                  <a:pt x="604868" y="4966224"/>
                </a:cubicBezTo>
                <a:lnTo>
                  <a:pt x="739205" y="4844222"/>
                </a:lnTo>
                <a:lnTo>
                  <a:pt x="916267" y="4639226"/>
                </a:lnTo>
                <a:cubicBezTo>
                  <a:pt x="940414" y="4565414"/>
                  <a:pt x="921973" y="4546524"/>
                  <a:pt x="960970" y="4458968"/>
                </a:cubicBezTo>
                <a:cubicBezTo>
                  <a:pt x="944678" y="4442947"/>
                  <a:pt x="969490" y="4417006"/>
                  <a:pt x="974467" y="4400454"/>
                </a:cubicBezTo>
                <a:cubicBezTo>
                  <a:pt x="982773" y="4380936"/>
                  <a:pt x="1007298" y="4366877"/>
                  <a:pt x="1019252" y="4326337"/>
                </a:cubicBezTo>
                <a:cubicBezTo>
                  <a:pt x="1036267" y="4260393"/>
                  <a:pt x="1059530" y="4136055"/>
                  <a:pt x="1097435" y="4004432"/>
                </a:cubicBezTo>
                <a:cubicBezTo>
                  <a:pt x="1106825" y="3966554"/>
                  <a:pt x="1101080" y="3928762"/>
                  <a:pt x="1115477" y="3887430"/>
                </a:cubicBezTo>
                <a:lnTo>
                  <a:pt x="1129980" y="3841018"/>
                </a:lnTo>
                <a:lnTo>
                  <a:pt x="1128054" y="3833633"/>
                </a:lnTo>
                <a:lnTo>
                  <a:pt x="1144766" y="3703595"/>
                </a:lnTo>
                <a:cubicBezTo>
                  <a:pt x="1147066" y="3696849"/>
                  <a:pt x="1148103" y="3688315"/>
                  <a:pt x="1146269" y="3675779"/>
                </a:cubicBezTo>
                <a:lnTo>
                  <a:pt x="1145250" y="3673177"/>
                </a:lnTo>
                <a:cubicBezTo>
                  <a:pt x="1145215" y="3582027"/>
                  <a:pt x="1145179" y="3490877"/>
                  <a:pt x="1145144" y="3399727"/>
                </a:cubicBezTo>
                <a:cubicBezTo>
                  <a:pt x="1147083" y="3299532"/>
                  <a:pt x="1148035" y="3137700"/>
                  <a:pt x="1153102" y="3022588"/>
                </a:cubicBezTo>
                <a:cubicBezTo>
                  <a:pt x="1180646" y="2922794"/>
                  <a:pt x="1174532" y="2884035"/>
                  <a:pt x="1187493" y="2780324"/>
                </a:cubicBezTo>
                <a:cubicBezTo>
                  <a:pt x="1158375" y="2741828"/>
                  <a:pt x="1179569" y="2688494"/>
                  <a:pt x="1174471" y="2636046"/>
                </a:cubicBezTo>
                <a:cubicBezTo>
                  <a:pt x="1166636" y="2600315"/>
                  <a:pt x="1172113" y="2580363"/>
                  <a:pt x="1173030" y="2517573"/>
                </a:cubicBezTo>
                <a:lnTo>
                  <a:pt x="1179971" y="2259305"/>
                </a:lnTo>
                <a:cubicBezTo>
                  <a:pt x="1185659" y="2235860"/>
                  <a:pt x="1188526" y="2166165"/>
                  <a:pt x="1180091" y="2154737"/>
                </a:cubicBezTo>
                <a:cubicBezTo>
                  <a:pt x="1178839" y="2140566"/>
                  <a:pt x="1182896" y="2122956"/>
                  <a:pt x="1173497" y="2118139"/>
                </a:cubicBezTo>
                <a:cubicBezTo>
                  <a:pt x="1162334" y="2109329"/>
                  <a:pt x="1182925" y="2054984"/>
                  <a:pt x="1168754" y="2064932"/>
                </a:cubicBezTo>
                <a:cubicBezTo>
                  <a:pt x="1172297" y="2055306"/>
                  <a:pt x="1174348" y="2043912"/>
                  <a:pt x="1175360" y="2031780"/>
                </a:cubicBezTo>
                <a:lnTo>
                  <a:pt x="1175420" y="2025741"/>
                </a:lnTo>
                <a:lnTo>
                  <a:pt x="1192392" y="1985855"/>
                </a:lnTo>
                <a:cubicBezTo>
                  <a:pt x="1215175" y="1923519"/>
                  <a:pt x="1226212" y="1866045"/>
                  <a:pt x="1240537" y="1810891"/>
                </a:cubicBezTo>
                <a:cubicBezTo>
                  <a:pt x="1259067" y="1728006"/>
                  <a:pt x="1217317" y="1786031"/>
                  <a:pt x="1262324" y="1680343"/>
                </a:cubicBezTo>
                <a:cubicBezTo>
                  <a:pt x="1253348" y="1670409"/>
                  <a:pt x="1255203" y="1657385"/>
                  <a:pt x="1264475" y="1634781"/>
                </a:cubicBezTo>
                <a:cubicBezTo>
                  <a:pt x="1272659" y="1594593"/>
                  <a:pt x="1244427" y="1600697"/>
                  <a:pt x="1268425" y="1558391"/>
                </a:cubicBezTo>
                <a:lnTo>
                  <a:pt x="1263100" y="1489998"/>
                </a:lnTo>
                <a:cubicBezTo>
                  <a:pt x="1266865" y="1493313"/>
                  <a:pt x="1282717" y="1437353"/>
                  <a:pt x="1286195" y="1421105"/>
                </a:cubicBezTo>
                <a:cubicBezTo>
                  <a:pt x="1291230" y="1386887"/>
                  <a:pt x="1312727" y="1380369"/>
                  <a:pt x="1298315" y="1361656"/>
                </a:cubicBezTo>
                <a:lnTo>
                  <a:pt x="1294008" y="1357170"/>
                </a:lnTo>
                <a:lnTo>
                  <a:pt x="1295031" y="1349556"/>
                </a:lnTo>
                <a:cubicBezTo>
                  <a:pt x="1296189" y="1345624"/>
                  <a:pt x="1298003" y="1343687"/>
                  <a:pt x="1301170" y="1345177"/>
                </a:cubicBezTo>
                <a:cubicBezTo>
                  <a:pt x="1295263" y="1310433"/>
                  <a:pt x="1325388" y="1279763"/>
                  <a:pt x="1337115" y="1249089"/>
                </a:cubicBezTo>
                <a:cubicBezTo>
                  <a:pt x="1329895" y="1221954"/>
                  <a:pt x="1319987" y="1231008"/>
                  <a:pt x="1335308" y="1164961"/>
                </a:cubicBezTo>
                <a:lnTo>
                  <a:pt x="1365049" y="1102487"/>
                </a:lnTo>
                <a:lnTo>
                  <a:pt x="1380977" y="1051638"/>
                </a:lnTo>
                <a:lnTo>
                  <a:pt x="1360650" y="950605"/>
                </a:lnTo>
                <a:cubicBezTo>
                  <a:pt x="1355937" y="906205"/>
                  <a:pt x="1304757" y="948105"/>
                  <a:pt x="1321700" y="890133"/>
                </a:cubicBezTo>
                <a:cubicBezTo>
                  <a:pt x="1317159" y="848662"/>
                  <a:pt x="1301312" y="822322"/>
                  <a:pt x="1306943" y="779617"/>
                </a:cubicBezTo>
                <a:cubicBezTo>
                  <a:pt x="1295866" y="773001"/>
                  <a:pt x="1365734" y="737413"/>
                  <a:pt x="1379157" y="712462"/>
                </a:cubicBezTo>
                <a:cubicBezTo>
                  <a:pt x="1379148" y="666884"/>
                  <a:pt x="1363668" y="646426"/>
                  <a:pt x="1363659" y="600848"/>
                </a:cubicBezTo>
                <a:cubicBezTo>
                  <a:pt x="1348438" y="591261"/>
                  <a:pt x="1399800" y="523813"/>
                  <a:pt x="1382080" y="515581"/>
                </a:cubicBezTo>
                <a:cubicBezTo>
                  <a:pt x="1374807" y="490382"/>
                  <a:pt x="1380026" y="489229"/>
                  <a:pt x="1373630" y="455615"/>
                </a:cubicBezTo>
                <a:cubicBezTo>
                  <a:pt x="1416738" y="355936"/>
                  <a:pt x="1404304" y="400073"/>
                  <a:pt x="1413997" y="334926"/>
                </a:cubicBezTo>
                <a:cubicBezTo>
                  <a:pt x="1426411" y="275061"/>
                  <a:pt x="1398828" y="323811"/>
                  <a:pt x="1442766" y="236597"/>
                </a:cubicBezTo>
                <a:cubicBezTo>
                  <a:pt x="1447404" y="215198"/>
                  <a:pt x="1470995" y="203409"/>
                  <a:pt x="1470206" y="182099"/>
                </a:cubicBezTo>
                <a:cubicBezTo>
                  <a:pt x="1444766" y="154163"/>
                  <a:pt x="1500097" y="157505"/>
                  <a:pt x="1502900" y="143623"/>
                </a:cubicBezTo>
                <a:cubicBezTo>
                  <a:pt x="1502294" y="125456"/>
                  <a:pt x="1501687" y="107288"/>
                  <a:pt x="1501081" y="89121"/>
                </a:cubicBezTo>
                <a:cubicBezTo>
                  <a:pt x="1511343" y="67775"/>
                  <a:pt x="1521898" y="78177"/>
                  <a:pt x="1539225" y="52964"/>
                </a:cubicBezTo>
                <a:lnTo>
                  <a:pt x="155357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5ABDA325-4B50-4FFB-81B9-95576831F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8365" y="603622"/>
            <a:ext cx="4799189" cy="565993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3B52D11-C69E-5CC7-5EAF-B85A1D84E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14" y="1902676"/>
            <a:ext cx="4447491" cy="3052648"/>
          </a:xfrm>
          <a:prstGeom prst="rect">
            <a:avLst/>
          </a:prstGeom>
        </p:spPr>
      </p:pic>
      <p:sp>
        <p:nvSpPr>
          <p:cNvPr id="90" name="Rectangle 6">
            <a:extLst>
              <a:ext uri="{FF2B5EF4-FFF2-40B4-BE49-F238E27FC236}">
                <a16:creationId xmlns:a16="http://schemas.microsoft.com/office/drawing/2014/main" id="{F2A49241-8E10-49A1-B30C-2A0230F6A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4146" y="6146262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322D781-E2B4-EC68-911E-AFB9F8DB023D}"/>
              </a:ext>
            </a:extLst>
          </p:cNvPr>
          <p:cNvSpPr txBox="1"/>
          <p:nvPr/>
        </p:nvSpPr>
        <p:spPr>
          <a:xfrm>
            <a:off x="420903" y="966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85750">
              <a:lnSpc>
                <a:spcPct val="90000"/>
              </a:lnSpc>
              <a:spcAft>
                <a:spcPts val="1125"/>
              </a:spcAft>
              <a:buFont typeface="Wingdings" panose="05000000000000000000" pitchFamily="2" charset="2"/>
              <a:buChar char="v"/>
            </a:pPr>
            <a:r>
              <a:rPr lang="en-US" sz="2000" b="1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2000" b="1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Qualité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 Données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F9481C-0E1F-1DFB-3121-EBBD78CD5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40558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B35B32-3E81-5FE8-DF1E-FE55D5009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26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DD11-818D-87CF-3222-EB9985DC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138AE77-ED1F-C6CA-468B-4D938EC5431E}"/>
              </a:ext>
            </a:extLst>
          </p:cNvPr>
          <p:cNvSpPr txBox="1"/>
          <p:nvPr/>
        </p:nvSpPr>
        <p:spPr>
          <a:xfrm>
            <a:off x="511277" y="2141764"/>
            <a:ext cx="11169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Enfin, pour concentrer l'analyse sur les données les plus riches, nous avons sélectionné les </a:t>
            </a:r>
            <a:r>
              <a:rPr lang="fr-F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 meilleurs</a:t>
            </a:r>
            <a:r>
              <a:rPr lang="fr-F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 nos 584 indicateurs, basés sur la couverture de pays sur la période 2010-2014.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E7E07D-8794-AB41-CA6F-D914D1F6BE13}"/>
              </a:ext>
            </a:extLst>
          </p:cNvPr>
          <p:cNvSpPr txBox="1"/>
          <p:nvPr/>
        </p:nvSpPr>
        <p:spPr>
          <a:xfrm>
            <a:off x="676785" y="518933"/>
            <a:ext cx="9016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Segoe UI Bold"/>
              </a:rPr>
              <a:t>4. Méthodologie (Phase 1) : Étape 4 - Sélection du Top 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5DE5E-9565-4248-2E5E-A28D624F3B2B}"/>
              </a:ext>
            </a:extLst>
          </p:cNvPr>
          <p:cNvSpPr/>
          <p:nvPr/>
        </p:nvSpPr>
        <p:spPr>
          <a:xfrm>
            <a:off x="3362960" y="3429000"/>
            <a:ext cx="4709652" cy="16026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Réduction Finale (Qualité)</a:t>
            </a:r>
          </a:p>
          <a:p>
            <a:pPr algn="ctr"/>
            <a:r>
              <a:rPr lang="fr-FR" sz="3200" b="1" dirty="0"/>
              <a:t>584 ➔ 15</a:t>
            </a:r>
          </a:p>
          <a:p>
            <a:pPr algn="ctr"/>
            <a:r>
              <a:rPr lang="fr-FR" dirty="0"/>
              <a:t>Indicateurs "les plus complets" retenus pour l'analyse.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FF49E23-84D5-4363-E385-20704554DB18}"/>
              </a:ext>
            </a:extLst>
          </p:cNvPr>
          <p:cNvCxnSpPr>
            <a:cxnSpLocks/>
          </p:cNvCxnSpPr>
          <p:nvPr/>
        </p:nvCxnSpPr>
        <p:spPr>
          <a:xfrm>
            <a:off x="-1" y="1202056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168828C-D8B8-5FF3-ECF8-68C5F0F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7271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7B036A-C6D9-D2A5-BAB2-68ED0CF5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493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6ED9-8325-2AB4-C138-D3C3A39F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C2792C7-5138-AAE1-1BA9-8ADEF4D2F487}"/>
              </a:ext>
            </a:extLst>
          </p:cNvPr>
          <p:cNvSpPr txBox="1"/>
          <p:nvPr/>
        </p:nvSpPr>
        <p:spPr>
          <a:xfrm>
            <a:off x="314633" y="2224053"/>
            <a:ext cx="5102941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Les 15 indicateurs restants mesuraient souvent la même chose (ex: population masculine, féminine, totale). Cela biaise la pondération des facteurs.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fr-FR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Règle d'Élimination :</a:t>
            </a:r>
          </a:p>
          <a:p>
            <a:pPr algn="l">
              <a:spcBef>
                <a:spcPts val="1500"/>
              </a:spcBef>
              <a:buNone/>
            </a:pP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Corrélation absolue ≥ 0.7 (Pearson) :</a:t>
            </a:r>
            <a:r>
              <a:rPr lang="fr-FR" b="0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Si deux indicateurs sont trop liés, nous en conservons un seul.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3E3008-6981-DEEA-32F2-B53DDFD2882F}"/>
              </a:ext>
            </a:extLst>
          </p:cNvPr>
          <p:cNvSpPr txBox="1"/>
          <p:nvPr/>
        </p:nvSpPr>
        <p:spPr>
          <a:xfrm>
            <a:off x="501445" y="552753"/>
            <a:ext cx="9493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Segoe UI Bold"/>
              </a:rPr>
              <a:t>5. Méthodologie (Phase 2) : Éliminer la Redondance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29BBCD-71F8-2AE4-169A-A94F237D5402}"/>
              </a:ext>
            </a:extLst>
          </p:cNvPr>
          <p:cNvSpPr txBox="1"/>
          <p:nvPr/>
        </p:nvSpPr>
        <p:spPr>
          <a:xfrm>
            <a:off x="314633" y="17746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Défi de la Redondance (Ex. 3)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4324AD8-2F74-CCD0-DCE4-45BBCC7D3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33" y="1459211"/>
            <a:ext cx="5263207" cy="4544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055BC4-E063-4BB3-EF48-0002F40C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4836" y="635912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9FC19B6-AB29-141D-8EC7-2CE8B144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8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265B-8EE0-6A8C-786A-AA102EFB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36C4AB1-4897-A274-EC2A-C6C398AF74BC}"/>
              </a:ext>
            </a:extLst>
          </p:cNvPr>
          <p:cNvSpPr txBox="1"/>
          <p:nvPr/>
        </p:nvSpPr>
        <p:spPr>
          <a:xfrm>
            <a:off x="452284" y="678350"/>
            <a:ext cx="8915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Le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Les 6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Indicateurs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Clés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Retenus</a:t>
            </a:r>
            <a:endParaRPr lang="en-US" sz="24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E429670-73EE-5FA7-E795-41E66ED7B1A2}"/>
              </a:ext>
            </a:extLst>
          </p:cNvPr>
          <p:cNvCxnSpPr>
            <a:cxnSpLocks/>
          </p:cNvCxnSpPr>
          <p:nvPr/>
        </p:nvCxnSpPr>
        <p:spPr>
          <a:xfrm>
            <a:off x="0" y="147287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33E74554-A453-C25E-4D4C-6292875F2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45295"/>
              </p:ext>
            </p:extLst>
          </p:nvPr>
        </p:nvGraphicFramePr>
        <p:xfrm>
          <a:off x="543724" y="2087880"/>
          <a:ext cx="10845636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818">
                  <a:extLst>
                    <a:ext uri="{9D8B030D-6E8A-4147-A177-3AD203B41FA5}">
                      <a16:colId xmlns:a16="http://schemas.microsoft.com/office/drawing/2014/main" val="1349028077"/>
                    </a:ext>
                  </a:extLst>
                </a:gridCol>
                <a:gridCol w="5422818">
                  <a:extLst>
                    <a:ext uri="{9D8B030D-6E8A-4147-A177-3AD203B41FA5}">
                      <a16:colId xmlns:a16="http://schemas.microsoft.com/office/drawing/2014/main" val="2356067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VOLUME (</a:t>
                      </a:r>
                      <a:r>
                        <a:rPr lang="en-US" b="1" i="0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Potentiel</a:t>
                      </a:r>
                      <a:r>
                        <a:rPr lang="en-US" b="1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b="1" i="0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Démographique</a:t>
                      </a:r>
                      <a:r>
                        <a:rPr lang="en-US" b="1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STRUCTURE (</a:t>
                      </a:r>
                      <a:r>
                        <a:rPr lang="en-US" b="1" i="0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Stabilité</a:t>
                      </a:r>
                      <a:r>
                        <a:rPr lang="en-US" b="1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 du Marché)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02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i="0" dirty="0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b="0" i="0" dirty="0" err="1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Indicateur</a:t>
                      </a:r>
                      <a:r>
                        <a:rPr lang="en-US" b="0" i="0" dirty="0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:</a:t>
                      </a: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 of the official age for lower secondary education (number)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i="0" dirty="0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</a:t>
                      </a:r>
                      <a:r>
                        <a:rPr lang="en-US" b="0" i="0" dirty="0" err="1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Indicateurs</a:t>
                      </a:r>
                      <a:r>
                        <a:rPr lang="en-US" b="0" i="0" dirty="0">
                          <a:solidFill>
                            <a:srgbClr val="4A556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:</a:t>
                      </a: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Official entrance age to lower secondary (years)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Official entrance age to upper secondary (years)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Theoretical duration of lower secondary (years)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Theoretical duration of secondary education (years)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spcAft>
                          <a:spcPts val="7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2D374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Theoretical duration of upper secondary (years)</a:t>
                      </a:r>
                      <a:endParaRPr lang="en-US" b="0" i="0" dirty="0">
                        <a:solidFill>
                          <a:srgbClr val="4A5568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91380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F21A48-E70B-C21B-E359-F440ECE7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48948" y="6356349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CAA1CA-698F-83E3-BDFA-8102BC76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703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570B-0C42-4877-9709-D4A81258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FDA0FDE-D2C3-E19D-E47C-7C6A6D0C40CD}"/>
              </a:ext>
            </a:extLst>
          </p:cNvPr>
          <p:cNvSpPr txBox="1"/>
          <p:nvPr/>
        </p:nvSpPr>
        <p:spPr>
          <a:xfrm>
            <a:off x="580102" y="2243618"/>
            <a:ext cx="4139382" cy="161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Hypothèse de Ciblage "Robuste"</a:t>
            </a:r>
          </a:p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Un pays n'est pas sélectionné par un seul indicateur fort, mais par la </a:t>
            </a: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constance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de sa performance à travers nos 6 indicateurs non-corrélés.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6C3444-D011-9F97-00FF-628479694CC5}"/>
              </a:ext>
            </a:extLst>
          </p:cNvPr>
          <p:cNvSpPr txBox="1"/>
          <p:nvPr/>
        </p:nvSpPr>
        <p:spPr>
          <a:xfrm>
            <a:off x="427702" y="542922"/>
            <a:ext cx="7629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Segoe UI Bold"/>
              </a:rPr>
              <a:t>7. Méthodologie (Phase 3) : Définition des Cibles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217E81-4254-82E9-9B76-87C9E40ABDFA}"/>
              </a:ext>
            </a:extLst>
          </p:cNvPr>
          <p:cNvSpPr txBox="1"/>
          <p:nvPr/>
        </p:nvSpPr>
        <p:spPr>
          <a:xfrm>
            <a:off x="5938684" y="2155029"/>
            <a:ext cx="6096000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Méthode : Score de Fréquence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Identifier le </a:t>
            </a: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TOP 5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des pays pour chacun des 6 indicateurs.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Compter le </a:t>
            </a: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nombre d'apparitions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d'un pays dans ces 6 listes Top 5.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Retenir les pays avec un </a:t>
            </a: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Score de Fréquence ≥ 2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8248C0C-F9D8-3DAE-F8F2-4F20792ECF11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7DD3B-01E3-E13F-4F2F-AD7407D9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9284" y="6356349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0DC195-97D3-1EB1-7AA3-1B201AB9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28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5252-B021-1CD8-147C-ED589C67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AF6440B-3D43-032C-04D9-42429FC7D6AD}"/>
              </a:ext>
            </a:extLst>
          </p:cNvPr>
          <p:cNvSpPr txBox="1"/>
          <p:nvPr/>
        </p:nvSpPr>
        <p:spPr>
          <a:xfrm>
            <a:off x="521109" y="4544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Shortlist : Les 3 Cibles Retenues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3FE4BE-FBF6-30EA-A1A2-EA828E73FBBE}"/>
              </a:ext>
            </a:extLst>
          </p:cNvPr>
          <p:cNvSpPr txBox="1"/>
          <p:nvPr/>
        </p:nvSpPr>
        <p:spPr>
          <a:xfrm>
            <a:off x="648091" y="3152819"/>
            <a:ext cx="2921018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fr-FR" b="1" i="0" dirty="0">
                <a:solidFill>
                  <a:srgbClr val="2D3748"/>
                </a:solidFill>
                <a:effectLst/>
                <a:latin typeface="Segoe UI Bold"/>
              </a:rPr>
              <a:t>🇩🇪 Allemagne</a:t>
            </a:r>
          </a:p>
          <a:p>
            <a:pPr algn="ctr">
              <a:spcBef>
                <a:spcPts val="750"/>
              </a:spcBef>
              <a:buNone/>
            </a:pPr>
            <a:r>
              <a:rPr lang="fr-FR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Score de Fréquence : 4/6</a:t>
            </a: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Apparaît 4 fois dans le Top 5 des 6 indicateurs.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7FCCC0-217D-BECA-0712-D870E4D6AD73}"/>
              </a:ext>
            </a:extLst>
          </p:cNvPr>
          <p:cNvSpPr txBox="1"/>
          <p:nvPr/>
        </p:nvSpPr>
        <p:spPr>
          <a:xfrm>
            <a:off x="4601497" y="3241255"/>
            <a:ext cx="2831690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fr-FR" b="1" i="0" dirty="0">
                <a:solidFill>
                  <a:srgbClr val="2D3748"/>
                </a:solidFill>
                <a:effectLst/>
                <a:latin typeface="Segoe UI Bold"/>
              </a:rPr>
              <a:t>🇹🇿 Tanzanie</a:t>
            </a:r>
          </a:p>
          <a:p>
            <a:pPr algn="ctr">
              <a:spcBef>
                <a:spcPts val="750"/>
              </a:spcBef>
              <a:buNone/>
            </a:pPr>
            <a:r>
              <a:rPr lang="fr-FR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Score de Fréquence : 3/6</a:t>
            </a: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Apparaît 3 fois dans le Top 5 des 6 indicateurs.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B94463-47E4-3C5A-CB63-B5222E45E6D3}"/>
              </a:ext>
            </a:extLst>
          </p:cNvPr>
          <p:cNvSpPr txBox="1"/>
          <p:nvPr/>
        </p:nvSpPr>
        <p:spPr>
          <a:xfrm>
            <a:off x="8465575" y="3241255"/>
            <a:ext cx="2921018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fr-FR" b="1" i="0" dirty="0">
                <a:solidFill>
                  <a:srgbClr val="2D3748"/>
                </a:solidFill>
                <a:effectLst/>
                <a:latin typeface="Segoe UI Bold"/>
              </a:rPr>
              <a:t>🇦🇹 Autriche</a:t>
            </a:r>
          </a:p>
          <a:p>
            <a:pPr algn="ctr">
              <a:spcBef>
                <a:spcPts val="750"/>
              </a:spcBef>
              <a:buNone/>
            </a:pPr>
            <a:r>
              <a:rPr lang="fr-FR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Score de Fréquence : 2/6</a:t>
            </a:r>
          </a:p>
          <a:p>
            <a:pPr algn="ctr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Apparaît 2 fois dans le Top 5 des 6 indicateurs.</a:t>
            </a:r>
          </a:p>
        </p:txBody>
      </p:sp>
      <p:pic>
        <p:nvPicPr>
          <p:cNvPr id="11" name="Picture 1" descr="Drapeau Allemagne">
            <a:extLst>
              <a:ext uri="{FF2B5EF4-FFF2-40B4-BE49-F238E27FC236}">
                <a16:creationId xmlns:a16="http://schemas.microsoft.com/office/drawing/2014/main" id="{2F684E57-5C9D-2CA5-70CE-89080C2F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127" y="1642230"/>
            <a:ext cx="1858945" cy="139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Drapeau Autriche">
            <a:extLst>
              <a:ext uri="{FF2B5EF4-FFF2-40B4-BE49-F238E27FC236}">
                <a16:creationId xmlns:a16="http://schemas.microsoft.com/office/drawing/2014/main" id="{E85821F7-C7EC-2209-3558-1022E32FC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625" y="1789475"/>
            <a:ext cx="1297892" cy="124695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Drapeau Tanzanie">
            <a:extLst>
              <a:ext uri="{FF2B5EF4-FFF2-40B4-BE49-F238E27FC236}">
                <a16:creationId xmlns:a16="http://schemas.microsoft.com/office/drawing/2014/main" id="{E131E913-7034-E41C-AD33-2478623D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432" y="1629520"/>
            <a:ext cx="1406919" cy="140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1484EF5-161C-F90B-1AD2-24D07DD6B9D3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41474-E0CB-D434-7B25-83F8D138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39116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6F45D9-A536-BA00-6446-D37468AD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2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F47F-5F21-3AB4-7B30-6FACDA20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7ABCFF9-4436-39E2-89B9-5E42D7F1065A}"/>
              </a:ext>
            </a:extLst>
          </p:cNvPr>
          <p:cNvSpPr txBox="1"/>
          <p:nvPr/>
        </p:nvSpPr>
        <p:spPr>
          <a:xfrm>
            <a:off x="707922" y="2024289"/>
            <a:ext cx="4198374" cy="35573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4299E1"/>
                </a:solidFill>
                <a:effectLst/>
                <a:latin typeface="Segoe UI" panose="020B0502040204020203" pitchFamily="34" charset="0"/>
              </a:rPr>
              <a:t>Profil 1 : Marchés Stables (🇩🇪 &amp; 🇦🇹)</a:t>
            </a:r>
          </a:p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Ces pays dominent sur les indicateurs de </a:t>
            </a: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Structure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(âge, durée des études) plutôt que sur le Volume démographique.</a:t>
            </a:r>
          </a:p>
          <a:p>
            <a:pPr algn="l">
              <a:buNone/>
            </a:pP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Avantage :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Systèmes éducatifs bien établis, fiabilité de la donnée.</a:t>
            </a:r>
          </a:p>
          <a:p>
            <a:pPr algn="l">
              <a:buNone/>
            </a:pP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Stratégie :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Idéaux pour un lancement pilote structuré et une validation rapide du produit dans un environnement stable.</a:t>
            </a:r>
          </a:p>
          <a:p>
            <a:pPr algn="l">
              <a:spcAft>
                <a:spcPts val="1125"/>
              </a:spcAft>
              <a:buNone/>
            </a:pPr>
            <a:endParaRPr lang="fr-FR" b="0" i="0" dirty="0">
              <a:solidFill>
                <a:srgbClr val="4A5568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1D3C14-F51C-69E8-389F-62933D56470D}"/>
              </a:ext>
            </a:extLst>
          </p:cNvPr>
          <p:cNvSpPr txBox="1"/>
          <p:nvPr/>
        </p:nvSpPr>
        <p:spPr>
          <a:xfrm>
            <a:off x="6007509" y="2029783"/>
            <a:ext cx="5624052" cy="24493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ED8936"/>
                </a:solidFill>
                <a:effectLst/>
                <a:latin typeface="Segoe UI" panose="020B0502040204020203" pitchFamily="34" charset="0"/>
              </a:rPr>
              <a:t>Profil 2 : Marché à Croissance (🇹🇿)</a:t>
            </a:r>
          </a:p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La Tanzanie démontre une structure éducative élevée (durée théorique) combinée à un marché en forte évolution.</a:t>
            </a:r>
          </a:p>
          <a:p>
            <a:pPr algn="l">
              <a:buNone/>
            </a:pP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Avantage :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Potentiel d'impact majeur sur un marché en structuration.</a:t>
            </a:r>
          </a:p>
          <a:p>
            <a:pPr algn="l">
              <a:buNone/>
            </a:pP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Stratégie :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Viser l'adoption de masse. Nécessite une approche d'adaptation culturelle et de prix (volume).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A0ECC53-4FF7-47AD-5150-8AC2CA39DD3D}"/>
              </a:ext>
            </a:extLst>
          </p:cNvPr>
          <p:cNvSpPr txBox="1"/>
          <p:nvPr/>
        </p:nvSpPr>
        <p:spPr>
          <a:xfrm>
            <a:off x="896702" y="4282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9. Synthèse des Profils de Marché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33E21E1-646C-5952-36C9-7F13E9A69552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F7B871-9602-B264-5844-F2BCF718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2702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3F688D-589E-037A-4CB6-8C7232C6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87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3794-DD1A-156E-A64F-97D9F76E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0B82875-E0DE-D0F4-CAB6-090606815C30}"/>
              </a:ext>
            </a:extLst>
          </p:cNvPr>
          <p:cNvSpPr txBox="1"/>
          <p:nvPr/>
        </p:nvSpPr>
        <p:spPr>
          <a:xfrm>
            <a:off x="298245" y="2247104"/>
            <a:ext cx="5043949" cy="2480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48B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Validé par l'UNESCO (Potentiel Structurel)</a:t>
            </a:r>
          </a:p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jeu de données est parfait pour évaluer le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POTENTIEL STRUCTUREL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 marché :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Volume :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Taille du bassin d'élèves cible.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 :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Âge d'entrée et Durée des études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fr-FR" dirty="0">
              <a:solidFill>
                <a:srgbClr val="4A5568"/>
              </a:solidFill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fr-FR" b="0" i="0" dirty="0">
              <a:solidFill>
                <a:srgbClr val="4A5568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E146D20-39C4-F27E-EEBE-1552F4549600}"/>
              </a:ext>
            </a:extLst>
          </p:cNvPr>
          <p:cNvSpPr txBox="1"/>
          <p:nvPr/>
        </p:nvSpPr>
        <p:spPr>
          <a:xfrm>
            <a:off x="432618" y="493760"/>
            <a:ext cx="8010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 Limites : Ce que les Données Ne Disent Pas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12F48E-ECDA-9C9D-B9C1-220705F91950}"/>
              </a:ext>
            </a:extLst>
          </p:cNvPr>
          <p:cNvSpPr txBox="1"/>
          <p:nvPr/>
        </p:nvSpPr>
        <p:spPr>
          <a:xfrm>
            <a:off x="5797755" y="2242621"/>
            <a:ext cx="6096000" cy="26545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F5656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Risques &amp; Données Manquantes (Faisabilité Économique)</a:t>
            </a:r>
          </a:p>
          <a:p>
            <a:pPr algn="l">
              <a:buNone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Ces données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 PERMETTENT PAS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d'évaluer la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FAISABILITÉ ÉCONOMIQUE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❌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Pouvoir d'Achat :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PIB par habitant, Revenu médian.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❌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Concurrence :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Paysage des solutions </a:t>
            </a:r>
            <a:r>
              <a:rPr lang="fr-FR" b="0" i="0" dirty="0" err="1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EdTech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locales.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❌ </a:t>
            </a:r>
            <a:r>
              <a:rPr lang="fr-FR" b="1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Régulation :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Facilité de faire des affaires.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ED28FB3-4759-91AE-E933-339C409F8B46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ABD136-A03F-33FB-DDE5-C6A2F1F2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8613" y="6356349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BF580E-207E-8FF7-200C-D90BA461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11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B7140-FCF9-2BCE-5810-E4E6275C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DB33D11-3E39-91B7-46B3-EB7370588DC2}"/>
              </a:ext>
            </a:extLst>
          </p:cNvPr>
          <p:cNvSpPr txBox="1"/>
          <p:nvPr/>
        </p:nvSpPr>
        <p:spPr>
          <a:xfrm>
            <a:off x="379851" y="1877447"/>
            <a:ext cx="11300871" cy="38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1 : Valider la Faisabilité Économique : </a:t>
            </a:r>
            <a:b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Intégrer les données du FMI/Banque Mondiale (PIB, Dépenses Éducation/PIB).</a:t>
            </a:r>
            <a:b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Pondérer le </a:t>
            </a: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Score de Fréquence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(Potentiel) avec les données de </a:t>
            </a: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Pouvoir d’Achat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(Faisabilité) pour un Score d'Opportunité final.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2 : Préparation du POC : </a:t>
            </a:r>
            <a:b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i="0" dirty="0">
                <a:solidFill>
                  <a:srgbClr val="2D374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Lancer une étude de marché Qualitative pour comprendre les habitudes de paiement et l'appétence </a:t>
            </a:r>
            <a:r>
              <a:rPr lang="fr-FR" b="0" i="0" dirty="0" err="1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EdTech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locale. Définir un modèle de prix adapté (Premium vs. Volume). </a:t>
            </a:r>
            <a:b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fr-FR" b="0" i="0" dirty="0">
                <a:solidFill>
                  <a:srgbClr val="4A556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Objectif : Lancement du Proof of Concept (POC) sur l'Allemagne.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C2933F-5F34-37CF-5BCC-D0FE7C8ED47B}"/>
              </a:ext>
            </a:extLst>
          </p:cNvPr>
          <p:cNvSpPr txBox="1"/>
          <p:nvPr/>
        </p:nvSpPr>
        <p:spPr>
          <a:xfrm>
            <a:off x="-568462" y="654146"/>
            <a:ext cx="9699024" cy="713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1875"/>
              </a:spcAft>
            </a:pPr>
            <a:r>
              <a:rPr lang="en-US" sz="2400" b="1" i="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US" sz="2400" b="1" i="0" kern="1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Prochaines</a:t>
            </a:r>
            <a:r>
              <a:rPr lang="en-US" sz="2400" b="1" i="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Étapes : </a:t>
            </a:r>
            <a:r>
              <a:rPr lang="en-US" sz="2400" b="1" i="0" kern="1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Lancement</a:t>
            </a:r>
            <a:r>
              <a:rPr lang="en-US" sz="2400" b="1" i="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POC &amp; Validation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F6B2272-DD75-1FE2-17B0-995A087BE4A6}"/>
              </a:ext>
            </a:extLst>
          </p:cNvPr>
          <p:cNvCxnSpPr>
            <a:cxnSpLocks/>
          </p:cNvCxnSpPr>
          <p:nvPr/>
        </p:nvCxnSpPr>
        <p:spPr>
          <a:xfrm>
            <a:off x="0" y="1229032"/>
            <a:ext cx="1219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B80008-23D6-4987-75DC-72D530FC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8613" y="6356350"/>
            <a:ext cx="4114800" cy="365125"/>
          </a:xfrm>
        </p:spPr>
        <p:txBody>
          <a:bodyPr/>
          <a:lstStyle/>
          <a:p>
            <a:r>
              <a:rPr lang="fr-FR" dirty="0"/>
              <a:t>Analyse des données de systèmes éducatifs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B56B1D2-780F-946F-EC44-E97CAC0C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946B-6C31-4F70-A59F-D81A167EDCE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85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8941A-EA13-6CCC-45DA-7A140A08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54BC93D-3BB4-7C34-EDAF-79AF4B989C55}"/>
              </a:ext>
            </a:extLst>
          </p:cNvPr>
          <p:cNvSpPr txBox="1"/>
          <p:nvPr/>
        </p:nvSpPr>
        <p:spPr>
          <a:xfrm>
            <a:off x="2570480" y="3044279"/>
            <a:ext cx="7965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 de votre attention. </a:t>
            </a:r>
          </a:p>
        </p:txBody>
      </p:sp>
    </p:spTree>
    <p:extLst>
      <p:ext uri="{BB962C8B-B14F-4D97-AF65-F5344CB8AC3E}">
        <p14:creationId xmlns:p14="http://schemas.microsoft.com/office/powerpoint/2010/main" val="38047072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1745</TotalTime>
  <Words>1241</Words>
  <Application>Microsoft Office PowerPoint</Application>
  <PresentationFormat>Grand écran</PresentationFormat>
  <Paragraphs>148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Segoe UI</vt:lpstr>
      <vt:lpstr>Segoe UI Bold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Oumayma Selmen</dc:creator>
  <cp:lastModifiedBy>Oumayma Selmen</cp:lastModifiedBy>
  <cp:revision>17</cp:revision>
  <dcterms:created xsi:type="dcterms:W3CDTF">2025-11-12T12:58:18Z</dcterms:created>
  <dcterms:modified xsi:type="dcterms:W3CDTF">2025-11-14T10:36:35Z</dcterms:modified>
</cp:coreProperties>
</file>